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5447752" cy="35999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447752" cy="35999928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447752" cy="4251960"/>
          </a:xfrm>
          <a:prstGeom prst="rect">
            <a:avLst/>
          </a:prstGeom>
          <a:solidFill>
            <a:srgbClr val="E8E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87952"/>
            <a:ext cx="2544775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23893272" cy="11430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8800" b="0" i="0">
                <a:solidFill>
                  <a:srgbClr val="10231A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23893272" cy="7498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400" b="0" i="0">
                <a:solidFill>
                  <a:srgbClr val="C7563F"/>
                </a:solidFill>
                <a:latin typeface="Arial"/>
              </a:defRPr>
            </a:pPr>
            <a:r>
              <a:t>Bringing the gold standard of sensR to the Python sensory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2389327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1" i="0">
                <a:solidFill>
                  <a:srgbClr val="17291F"/>
                </a:solidFill>
                <a:latin typeface="Arial"/>
              </a:defRPr>
            </a:pPr>
            <a:r>
              <a:t>John M. Ennis | Aigora | Sensometrics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0" y="658368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400"/>
              </a:spcAft>
              <a:defRPr sz="1150" b="0" i="0">
                <a:solidFill>
                  <a:srgbClr val="526057"/>
                </a:solidFill>
                <a:latin typeface="Arial"/>
              </a:defRPr>
            </a:pPr>
            <a:r>
              <a:t>Python-native Thurstonian sensory discrimination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5720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8172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39512"/>
            <a:ext cx="11603736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900" b="0" i="0">
                <a:solidFill>
                  <a:srgbClr val="17291F"/>
                </a:solidFill>
                <a:latin typeface="Arial"/>
              </a:defRPr>
            </a:pPr>
            <a:r>
              <a:t>sensR has been the trusted R reference for sensory discrimination. But modern data science teams increasingly live in Python, where signal detection theory often arrives as isolated scripts rather than validated tools.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6976872"/>
            <a:ext cx="10780776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35608" y="7141464"/>
            <a:ext cx="103784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400" b="1" i="0">
                <a:solidFill>
                  <a:srgbClr val="C7563F"/>
                </a:solidFill>
                <a:latin typeface="Arial"/>
              </a:defRPr>
            </a:pPr>
            <a:r>
              <a:t>Porting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7507223"/>
            <a:ext cx="10195559" cy="6675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400" b="0" i="0">
                <a:solidFill>
                  <a:srgbClr val="17291F"/>
                </a:solidFill>
                <a:latin typeface="Arial"/>
              </a:defRPr>
            </a:pPr>
            <a:r>
              <a:t>Keep the sensR numerical contract. Move the workflow into SciPy, dataclasses, and Plotly.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8577072"/>
            <a:ext cx="1142085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700" b="1" i="0">
                <a:solidFill>
                  <a:srgbClr val="C7563F"/>
                </a:solidFill>
                <a:latin typeface="Arial"/>
              </a:defRPr>
            </a:pPr>
            <a:r>
              <a:t>Goal: make sensory discrimination methods feel native in Python without loosening the validation discipline.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75336" y="45720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75336" y="468172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What sensPy ports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066776" y="5303520"/>
            <a:ext cx="5641848" cy="16002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39928" y="5431536"/>
            <a:ext cx="5495544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C7563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76503" y="6062472"/>
            <a:ext cx="542239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protocol variants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94792" y="6473952"/>
            <a:ext cx="5385816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8 single + 5 double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937224" y="5303520"/>
            <a:ext cx="5641848" cy="16002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010376" y="5431536"/>
            <a:ext cx="5495544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4C8A61"/>
                </a:solidFill>
                <a:latin typeface="Arial"/>
              </a:defRPr>
            </a:pPr>
            <a:r>
              <a:t>740+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46952" y="6062472"/>
            <a:ext cx="542239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automated tests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65240" y="6473952"/>
            <a:ext cx="5385816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825 estimated pytest cases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066776" y="7132320"/>
            <a:ext cx="5641848" cy="16002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39928" y="7260336"/>
            <a:ext cx="5495544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C7563F"/>
                </a:solidFill>
                <a:latin typeface="Arial"/>
              </a:defRPr>
            </a:pPr>
            <a:r>
              <a:t>1.5.3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176503" y="7891271"/>
            <a:ext cx="542239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sensR fixture 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194792" y="8302752"/>
            <a:ext cx="5385816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golden parity 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937224" y="7132320"/>
            <a:ext cx="5641848" cy="16002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010376" y="7260336"/>
            <a:ext cx="5495544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4C8A61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46952" y="7891271"/>
            <a:ext cx="542239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typed dataclasses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65240" y="8302752"/>
            <a:ext cx="5385816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structured Python results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139928" y="9015984"/>
            <a:ext cx="11365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00" b="1" i="0">
                <a:solidFill>
                  <a:srgbClr val="17291F"/>
                </a:solidFill>
                <a:latin typeface="Arial"/>
              </a:defRPr>
            </a:pPr>
            <a:r>
              <a:t>Numerical parity targets: 3-6 decimal places across sensR-backed fixtures and boundary cases.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95554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9665207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Protocol coverage</a:t>
            </a:r>
          </a:p>
        </p:txBody>
      </p:sp>
      <p:pic>
        <p:nvPicPr>
          <p:cNvPr id="37" name="Picture 36" descr="protocol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542" y="10222992"/>
            <a:ext cx="6376570" cy="3977639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05840" y="14337792"/>
            <a:ext cx="11237976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Forced-choice protocols share a common d-prime reporting scale while preserving each protocol's guessing structure.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975336" y="95554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975336" y="9665207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Psychometric functions</a:t>
            </a:r>
          </a:p>
        </p:txBody>
      </p:sp>
      <p:pic>
        <p:nvPicPr>
          <p:cNvPr id="41" name="Picture 40" descr="psychometri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93238" y="10222992"/>
            <a:ext cx="5859372" cy="402336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3203936" y="14365224"/>
            <a:ext cx="1123797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One API maps Pc, Pd, and d-prime across sensory protocols.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155448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1565452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Validation surface</a:t>
            </a:r>
          </a:p>
        </p:txBody>
      </p:sp>
      <p:pic>
        <p:nvPicPr>
          <p:cNvPr id="45" name="Picture 44" descr="test_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2346" y="16212312"/>
            <a:ext cx="6744964" cy="416051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05840" y="20482560"/>
            <a:ext cx="1123797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Golden sensR fixtures run beside unit, coverage, simulation, plotting, and model tests.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975336" y="155448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975336" y="1565452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SciPy-native architecture</a:t>
            </a:r>
          </a:p>
        </p:txBody>
      </p:sp>
      <p:pic>
        <p:nvPicPr>
          <p:cNvPr id="49" name="Picture 48" descr="architecture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59597" y="16303751"/>
            <a:ext cx="5526653" cy="2148840"/>
          </a:xfrm>
          <a:prstGeom prst="rect">
            <a:avLst/>
          </a:prstGeom>
        </p:spPr>
      </p:pic>
      <p:pic>
        <p:nvPicPr>
          <p:cNvPr id="50" name="Picture 49" descr="roc_brid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286483" y="18635472"/>
            <a:ext cx="3072881" cy="242316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777240" y="2203704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2214676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Python ergonomics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97280" y="22704552"/>
            <a:ext cx="11055096" cy="26060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17319" y="22914864"/>
            <a:ext cx="10415015" cy="2148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from senspy import discrim, discrim_power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result = discrim(correct=80, total=100,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                 method="triangle")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print(result.d_prime, result.confint())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power = discrim_power(d_prime=1.5,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                      sample_size=100,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                      method="triangle")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25475184"/>
            <a:ext cx="1105509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50" b="1" i="0">
                <a:solidFill>
                  <a:srgbClr val="17291F"/>
                </a:solidFill>
                <a:latin typeface="Arial"/>
              </a:defRPr>
            </a:pPr>
            <a:r>
              <a:t>Typed result objects replace loose console output: estimates, intervals, p-values, and summaries travel together.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975336" y="2203704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75336" y="2214676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Advanced models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3066776" y="2284171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139928" y="2296972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4C8A61"/>
                </a:solidFill>
                <a:latin typeface="Arial"/>
              </a:defRPr>
            </a:pPr>
            <a:r>
              <a:t>BB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176503" y="23600664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Beta-Binomial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194792" y="2401214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overdispersed panel data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6965167" y="2284171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038319" y="2296972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C7563F"/>
                </a:solidFill>
                <a:latin typeface="Arial"/>
              </a:defRPr>
            </a:pPr>
            <a:r>
              <a:t>SD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074896" y="23600664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Same-Different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093184" y="2401214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Thurstonian criterion model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0863559" y="2284171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936711" y="2296972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4C8A61"/>
                </a:solidFill>
                <a:latin typeface="Arial"/>
              </a:defRPr>
            </a:pPr>
            <a:r>
              <a:t>ROC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973287" y="23600664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SDT analysis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991575" y="2401214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AUC + rating data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3203936" y="24716232"/>
            <a:ext cx="1123797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50" b="1" i="0">
                <a:solidFill>
                  <a:srgbClr val="17291F"/>
                </a:solidFill>
                <a:latin typeface="Arial"/>
              </a:defRPr>
            </a:pPr>
            <a:r>
              <a:t>Also included: 2-AC, DOD, A-not-A, d-prime comparison, posthoc tests, simulation, power, and sample-size planning.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7240" y="27889200"/>
            <a:ext cx="23893272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77240" y="27998928"/>
            <a:ext cx="23893272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Conclusion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83080" y="28675584"/>
            <a:ext cx="21881592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000" b="1" i="0">
                <a:solidFill>
                  <a:srgbClr val="17291F"/>
                </a:solidFill>
                <a:latin typeface="Arial"/>
              </a:defRPr>
            </a:pPr>
            <a:r>
              <a:t>sensPy brings the sensR contract into Python: the same sensory discrimination ideas, validated against the R reference, expressed as SciPy-native functions, typed dataclasses, and interactive Plotly figures.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40280" y="29763719"/>
            <a:ext cx="20967192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Selected references: Brockhoff &amp; Christensen, sensR package; Macmillan &amp; Creelman, Detection Theory; SciPy; Plotly. Repository includes golden sensR v1.5.3 fixtures.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7240" y="31226760"/>
            <a:ext cx="2389327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000" b="0" i="0">
                <a:solidFill>
                  <a:srgbClr val="10231A"/>
                </a:solidFill>
                <a:latin typeface="Georgia"/>
              </a:defRPr>
            </a:pPr>
            <a:r>
              <a:t>Open Python sensory workflow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77240" y="31793687"/>
            <a:ext cx="569899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4400" y="31976568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C7563F"/>
                </a:solidFill>
                <a:latin typeface="Arial"/>
              </a:defRPr>
            </a:pPr>
            <a:r>
              <a:t>1. Estimate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1832" y="32397192"/>
            <a:ext cx="5369814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17291F"/>
                </a:solidFill>
                <a:latin typeface="Arial"/>
              </a:defRPr>
            </a:pPr>
            <a:r>
              <a:t>d-prime, Pc, Pd, intervals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841998" y="31793687"/>
            <a:ext cx="569899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79158" y="31976568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C7563F"/>
                </a:solidFill>
                <a:latin typeface="Arial"/>
              </a:defRPr>
            </a:pPr>
            <a:r>
              <a:t>2. Plan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06590" y="32397192"/>
            <a:ext cx="5369814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17291F"/>
                </a:solidFill>
                <a:latin typeface="Arial"/>
              </a:defRPr>
            </a:pPr>
            <a:r>
              <a:t>power and sample size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2906756" y="31793687"/>
            <a:ext cx="569899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043916" y="31976568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C7563F"/>
                </a:solidFill>
                <a:latin typeface="Arial"/>
              </a:defRPr>
            </a:pPr>
            <a:r>
              <a:t>3. Model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071348" y="32397192"/>
            <a:ext cx="5369814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17291F"/>
                </a:solidFill>
                <a:latin typeface="Arial"/>
              </a:defRPr>
            </a:pPr>
            <a:r>
              <a:t>overdispersion and criteria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8971514" y="31793687"/>
            <a:ext cx="569899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9108674" y="31976568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C7563F"/>
                </a:solidFill>
                <a:latin typeface="Arial"/>
              </a:defRPr>
            </a:pPr>
            <a:r>
              <a:t>4. Visualize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136106" y="32397192"/>
            <a:ext cx="5369814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17291F"/>
                </a:solidFill>
                <a:latin typeface="Arial"/>
              </a:defRPr>
            </a:pPr>
            <a:r>
              <a:t>Plotly psychometric + ROC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34674047"/>
            <a:ext cx="25447752" cy="1325880"/>
          </a:xfrm>
          <a:prstGeom prst="rect">
            <a:avLst/>
          </a:prstGeom>
          <a:solidFill>
            <a:srgbClr val="10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7240" y="35058096"/>
            <a:ext cx="1828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2000" b="0" i="0">
                <a:solidFill>
                  <a:srgbClr val="FFFFFF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06640" y="35076383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00" b="0" i="0">
                <a:solidFill>
                  <a:srgbClr val="FFFFFF"/>
                </a:solidFill>
                <a:latin typeface="Arial"/>
              </a:defRPr>
            </a:pPr>
            <a:r>
              <a:t>github.com/aigorahub/sensPy | package v0.2.0</a:t>
            </a:r>
          </a:p>
        </p:txBody>
      </p:sp>
      <p:pic>
        <p:nvPicPr>
          <p:cNvPr id="91" name="Picture 90" descr="qr-senspy-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29263" y="34893504"/>
            <a:ext cx="841248" cy="8412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