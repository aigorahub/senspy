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5447752" cy="35999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447752" cy="35999928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447752" cy="3977639"/>
          </a:xfrm>
          <a:prstGeom prst="rect">
            <a:avLst/>
          </a:prstGeom>
          <a:solidFill>
            <a:srgbClr val="E8E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13631"/>
            <a:ext cx="25447752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57200"/>
            <a:ext cx="23893272" cy="11430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8800" b="0" i="0">
                <a:solidFill>
                  <a:srgbClr val="10231A"/>
                </a:solidFill>
                <a:latin typeface="Georgia"/>
              </a:defRPr>
            </a:pPr>
            <a:r>
              <a:t>sensPy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23893272" cy="7498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200" b="0" i="0">
                <a:solidFill>
                  <a:srgbClr val="C7563F"/>
                </a:solidFill>
                <a:latin typeface="Arial"/>
              </a:defRPr>
            </a:pPr>
            <a:r>
              <a:t>Bringing the gold standard of sensR to the Python sensory ecosystem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43200"/>
            <a:ext cx="23893272" cy="4572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200" b="1" i="0">
                <a:solidFill>
                  <a:srgbClr val="17291F"/>
                </a:solidFill>
                <a:latin typeface="Arial"/>
              </a:defRPr>
            </a:pPr>
            <a:r>
              <a:t>John M. Ennis | Aigora | Sensometrics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110960" y="566928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Aft>
                <a:spcPts val="400"/>
              </a:spcAft>
              <a:defRPr sz="1550" b="0" i="0">
                <a:solidFill>
                  <a:srgbClr val="526057"/>
                </a:solidFill>
                <a:latin typeface="Arial"/>
              </a:defRPr>
            </a:pPr>
            <a:r>
              <a:t>Python-native Thurstonian sensory discrimination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297680"/>
            <a:ext cx="11695176" cy="50292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407408"/>
            <a:ext cx="11695176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900" b="0" i="0">
                <a:solidFill>
                  <a:srgbClr val="10231A"/>
                </a:solidFill>
                <a:latin typeface="Georgia"/>
              </a:defRPr>
            </a:pPr>
            <a:r>
              <a:t>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56632"/>
            <a:ext cx="11603736" cy="10515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100" b="0" i="0">
                <a:solidFill>
                  <a:srgbClr val="17291F"/>
                </a:solidFill>
                <a:latin typeface="Arial"/>
              </a:defRPr>
            </a:pPr>
            <a:r>
              <a:t>sensR is the trusted R reference for sensory discrimination. Python teams need the same signal-detection discipline without leaving their SciPy, dataclass, and Plotly workflows.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" y="6382512"/>
            <a:ext cx="5573268" cy="132588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1288" y="6547104"/>
            <a:ext cx="5170931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700" b="1" i="0">
                <a:solidFill>
                  <a:srgbClr val="C7563F"/>
                </a:solidFill>
                <a:latin typeface="Arial"/>
              </a:defRPr>
            </a:pPr>
            <a:r>
              <a:t>Gold standard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" y="6949440"/>
            <a:ext cx="4988052" cy="66751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630" b="0" i="0">
                <a:solidFill>
                  <a:srgbClr val="17291F"/>
                </a:solidFill>
                <a:latin typeface="Arial"/>
              </a:defRPr>
            </a:pPr>
            <a:r>
              <a:t>Preserve the sensR numerical contract.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16268" y="6382512"/>
            <a:ext cx="5573268" cy="132588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17436" y="6547104"/>
            <a:ext cx="5170931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700" b="1" i="0">
                <a:solidFill>
                  <a:srgbClr val="C7563F"/>
                </a:solidFill>
                <a:latin typeface="Arial"/>
              </a:defRPr>
            </a:pPr>
            <a:r>
              <a:t>Python-native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08876" y="6949440"/>
            <a:ext cx="4988052" cy="66751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630" b="0" i="0">
                <a:solidFill>
                  <a:srgbClr val="17291F"/>
                </a:solidFill>
                <a:latin typeface="Arial"/>
              </a:defRPr>
            </a:pPr>
            <a:r>
              <a:t>Typed objects, plots, and planning tools.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8010144"/>
            <a:ext cx="1142085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900" b="1" i="0">
                <a:solidFill>
                  <a:srgbClr val="C7563F"/>
                </a:solidFill>
                <a:latin typeface="Arial"/>
              </a:defRPr>
            </a:pPr>
            <a:r>
              <a:t>Goal: make sensory discrimination methods feel native in Python without loosening the validation discipline.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975336" y="4297680"/>
            <a:ext cx="11695176" cy="50292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975336" y="4407408"/>
            <a:ext cx="11695176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900" b="0" i="0">
                <a:solidFill>
                  <a:srgbClr val="10231A"/>
                </a:solidFill>
                <a:latin typeface="Georgia"/>
              </a:defRPr>
            </a:pPr>
            <a:r>
              <a:t>What sensPy ports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021056" y="5102352"/>
            <a:ext cx="3730751" cy="132588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075920" y="5175504"/>
            <a:ext cx="3621023" cy="47548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000" b="1" i="0">
                <a:solidFill>
                  <a:srgbClr val="C7563F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12496" y="5769864"/>
            <a:ext cx="3547871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420" b="1" i="0">
                <a:solidFill>
                  <a:srgbClr val="17291F"/>
                </a:solidFill>
                <a:latin typeface="Arial"/>
              </a:defRPr>
            </a:pPr>
            <a:r>
              <a:t>protocol variants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130784" y="6172200"/>
            <a:ext cx="3511295" cy="25603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250" b="0" i="0">
                <a:solidFill>
                  <a:srgbClr val="4D5A52"/>
                </a:solidFill>
                <a:latin typeface="Arial"/>
              </a:defRPr>
            </a:pPr>
            <a:r>
              <a:t>8 single + 5 double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957548" y="5102352"/>
            <a:ext cx="3730751" cy="132588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012411" y="5175504"/>
            <a:ext cx="3621023" cy="47548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000" b="1" i="0">
                <a:solidFill>
                  <a:srgbClr val="4C8A61"/>
                </a:solidFill>
                <a:latin typeface="Arial"/>
              </a:defRPr>
            </a:pPr>
            <a:r>
              <a:t>740+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048988" y="5769864"/>
            <a:ext cx="3547871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420" b="1" i="0">
                <a:solidFill>
                  <a:srgbClr val="17291F"/>
                </a:solidFill>
                <a:latin typeface="Arial"/>
              </a:defRPr>
            </a:pPr>
            <a:r>
              <a:t>automated tests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067276" y="6172200"/>
            <a:ext cx="3511295" cy="25603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250" b="0" i="0">
                <a:solidFill>
                  <a:srgbClr val="4D5A52"/>
                </a:solidFill>
                <a:latin typeface="Arial"/>
              </a:defRPr>
            </a:pPr>
            <a:r>
              <a:t>851 collected cases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0894039" y="5102352"/>
            <a:ext cx="3730751" cy="132588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948903" y="5175504"/>
            <a:ext cx="3621023" cy="47548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000" b="1" i="0">
                <a:solidFill>
                  <a:srgbClr val="C7563F"/>
                </a:solidFill>
                <a:latin typeface="Arial"/>
              </a:defRPr>
            </a:pPr>
            <a:r>
              <a:t>1.5.3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985480" y="5769864"/>
            <a:ext cx="3547871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420" b="1" i="0">
                <a:solidFill>
                  <a:srgbClr val="17291F"/>
                </a:solidFill>
                <a:latin typeface="Arial"/>
              </a:defRPr>
            </a:pPr>
            <a:r>
              <a:t>sensR fixture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03768" y="6172200"/>
            <a:ext cx="3511295" cy="25603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250" b="0" i="0">
                <a:solidFill>
                  <a:srgbClr val="4D5A52"/>
                </a:solidFill>
                <a:latin typeface="Arial"/>
              </a:defRPr>
            </a:pPr>
            <a:r>
              <a:t>golden parity data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3021056" y="6638544"/>
            <a:ext cx="3730751" cy="132588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075920" y="6711696"/>
            <a:ext cx="3621023" cy="47548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000" b="1" i="0">
                <a:solidFill>
                  <a:srgbClr val="4C8A61"/>
                </a:solidFill>
                <a:latin typeface="Arial"/>
              </a:defRPr>
            </a:pPr>
            <a:r>
              <a:t>21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112496" y="7306056"/>
            <a:ext cx="3547871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420" b="1" i="0">
                <a:solidFill>
                  <a:srgbClr val="17291F"/>
                </a:solidFill>
                <a:latin typeface="Arial"/>
              </a:defRPr>
            </a:pPr>
            <a:r>
              <a:t>dataclasses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130784" y="7708392"/>
            <a:ext cx="3511295" cy="25603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250" b="0" i="0">
                <a:solidFill>
                  <a:srgbClr val="4D5A52"/>
                </a:solidFill>
                <a:latin typeface="Arial"/>
              </a:defRPr>
            </a:pPr>
            <a:r>
              <a:t>typed Python results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6957548" y="6638544"/>
            <a:ext cx="3730751" cy="132588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012411" y="6711696"/>
            <a:ext cx="3621023" cy="47548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000" b="1" i="0">
                <a:solidFill>
                  <a:srgbClr val="4C8A61"/>
                </a:solidFill>
                <a:latin typeface="Arial"/>
              </a:defRPr>
            </a:pPr>
            <a:r>
              <a:t>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048988" y="7306056"/>
            <a:ext cx="3547871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420" b="1" i="0">
                <a:solidFill>
                  <a:srgbClr val="17291F"/>
                </a:solidFill>
                <a:latin typeface="Arial"/>
              </a:defRPr>
            </a:pPr>
            <a:r>
              <a:t>public exports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067276" y="7708392"/>
            <a:ext cx="3511295" cy="25603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250" b="0" i="0">
                <a:solidFill>
                  <a:srgbClr val="4D5A52"/>
                </a:solidFill>
                <a:latin typeface="Arial"/>
              </a:defRPr>
            </a:pPr>
            <a:r>
              <a:t>single import surface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0894039" y="6638544"/>
            <a:ext cx="3730751" cy="132588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948903" y="6711696"/>
            <a:ext cx="3621023" cy="47548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000" b="1" i="0">
                <a:solidFill>
                  <a:srgbClr val="C7563F"/>
                </a:solidFill>
                <a:latin typeface="Arial"/>
              </a:defRPr>
            </a:pPr>
            <a:r>
              <a:t>Plotly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985480" y="7306056"/>
            <a:ext cx="3547871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420" b="1" i="0">
                <a:solidFill>
                  <a:srgbClr val="17291F"/>
                </a:solidFill>
                <a:latin typeface="Arial"/>
              </a:defRPr>
            </a:pPr>
            <a:r>
              <a:t>interactive figures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03768" y="7708392"/>
            <a:ext cx="3511295" cy="25603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250" b="0" i="0">
                <a:solidFill>
                  <a:srgbClr val="4D5A52"/>
                </a:solidFill>
                <a:latin typeface="Arial"/>
              </a:defRPr>
            </a:pPr>
            <a:r>
              <a:t>psychometric + ROC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139928" y="8266176"/>
            <a:ext cx="1136599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750" b="1" i="0">
                <a:solidFill>
                  <a:srgbClr val="17291F"/>
                </a:solidFill>
                <a:latin typeface="Arial"/>
              </a:defRPr>
            </a:pPr>
            <a:r>
              <a:t>Numerical parity targets: 3-6 decimal places across sensR-backed fixtures and boundary cases.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7240" y="8823960"/>
            <a:ext cx="11695176" cy="50292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8933688"/>
            <a:ext cx="11695176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900" b="0" i="0">
                <a:solidFill>
                  <a:srgbClr val="10231A"/>
                </a:solidFill>
                <a:latin typeface="Georgia"/>
              </a:defRPr>
            </a:pPr>
            <a:r>
              <a:t>Protocol coverage</a:t>
            </a:r>
          </a:p>
        </p:txBody>
      </p:sp>
      <p:pic>
        <p:nvPicPr>
          <p:cNvPr id="48" name="Picture 47" descr="protocol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235" y="9555480"/>
            <a:ext cx="6429186" cy="43434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05840" y="14017752"/>
            <a:ext cx="11237976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600" b="0" i="0">
                <a:solidFill>
                  <a:srgbClr val="4D5A52"/>
                </a:solidFill>
                <a:latin typeface="Arial"/>
              </a:defRPr>
            </a:pPr>
            <a:r>
              <a:t>Common d-prime scale, protocol-specific guessing.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975336" y="8823960"/>
            <a:ext cx="11695176" cy="50292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975336" y="8933688"/>
            <a:ext cx="11695176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900" b="0" i="0">
                <a:solidFill>
                  <a:srgbClr val="10231A"/>
                </a:solidFill>
                <a:latin typeface="Georgia"/>
              </a:defRPr>
            </a:pPr>
            <a:r>
              <a:t>Psychometric functions</a:t>
            </a:r>
          </a:p>
        </p:txBody>
      </p:sp>
      <p:pic>
        <p:nvPicPr>
          <p:cNvPr id="52" name="Picture 51" descr="psychometric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63551" y="9555480"/>
            <a:ext cx="6318745" cy="437083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3203936" y="14036040"/>
            <a:ext cx="1123797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600" b="0" i="0">
                <a:solidFill>
                  <a:srgbClr val="4D5A52"/>
                </a:solidFill>
                <a:latin typeface="Arial"/>
              </a:defRPr>
            </a:pPr>
            <a:r>
              <a:t>One API maps Pc, Pd, and d-prime.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77240" y="14859000"/>
            <a:ext cx="11695176" cy="50292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77240" y="14968728"/>
            <a:ext cx="11695176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900" b="0" i="0">
                <a:solidFill>
                  <a:srgbClr val="10231A"/>
                </a:solidFill>
                <a:latin typeface="Georgia"/>
              </a:defRPr>
            </a:pPr>
            <a:r>
              <a:t>Validation surface</a:t>
            </a:r>
          </a:p>
        </p:txBody>
      </p:sp>
      <p:pic>
        <p:nvPicPr>
          <p:cNvPr id="56" name="Picture 55" descr="test_inven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4389" y="15590520"/>
            <a:ext cx="7960877" cy="452628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05840" y="20217384"/>
            <a:ext cx="1123797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600" b="0" i="0">
                <a:solidFill>
                  <a:srgbClr val="4D5A52"/>
                </a:solidFill>
                <a:latin typeface="Arial"/>
              </a:defRPr>
            </a:pPr>
            <a:r>
              <a:t>Golden sensR fixtures run beside unit, model, power, and plotting tests.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2975336" y="14859000"/>
            <a:ext cx="11695176" cy="50292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975336" y="14968728"/>
            <a:ext cx="11695176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900" b="0" i="0">
                <a:solidFill>
                  <a:srgbClr val="10231A"/>
                </a:solidFill>
                <a:latin typeface="Georgia"/>
              </a:defRPr>
            </a:pPr>
            <a:r>
              <a:t>SciPy-native architecture</a:t>
            </a:r>
          </a:p>
        </p:txBody>
      </p:sp>
      <p:pic>
        <p:nvPicPr>
          <p:cNvPr id="60" name="Picture 59" descr="architecture_pip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92527" y="15627096"/>
            <a:ext cx="6060793" cy="2240280"/>
          </a:xfrm>
          <a:prstGeom prst="rect">
            <a:avLst/>
          </a:prstGeom>
        </p:spPr>
      </p:pic>
      <p:pic>
        <p:nvPicPr>
          <p:cNvPr id="61" name="Picture 60" descr="roc_brid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90682" y="18041112"/>
            <a:ext cx="3664483" cy="2834640"/>
          </a:xfrm>
          <a:prstGeom prst="rect">
            <a:avLst/>
          </a:prstGeom>
        </p:spPr>
      </p:pic>
      <p:sp>
        <p:nvSpPr>
          <p:cNvPr id="62" name="Rectangle 61"/>
          <p:cNvSpPr/>
          <p:nvPr/>
        </p:nvSpPr>
        <p:spPr>
          <a:xfrm>
            <a:off x="777240" y="20985480"/>
            <a:ext cx="11695176" cy="50292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7240" y="21095208"/>
            <a:ext cx="11695176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900" b="0" i="0">
                <a:solidFill>
                  <a:srgbClr val="10231A"/>
                </a:solidFill>
                <a:latin typeface="Georgia"/>
              </a:defRPr>
            </a:pPr>
            <a:r>
              <a:t>Python ergonomics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60120" y="21744432"/>
            <a:ext cx="11329415" cy="292608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80160" y="21954744"/>
            <a:ext cx="10689336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400"/>
              </a:spcAft>
              <a:defRPr sz="1520" b="0" i="0">
                <a:solidFill>
                  <a:srgbClr val="17291F"/>
                </a:solidFill>
                <a:latin typeface="Courier New"/>
              </a:defRPr>
            </a:pPr>
            <a:r>
              <a:t>from senspy import discrim, dprime_power</a:t>
            </a:r>
          </a:p>
          <a:p>
            <a:pPr algn="l">
              <a:spcAft>
                <a:spcPts val="400"/>
              </a:spcAft>
              <a:defRPr sz="1520" b="0" i="0">
                <a:solidFill>
                  <a:srgbClr val="17291F"/>
                </a:solidFill>
                <a:latin typeface="Courier New"/>
              </a:defRPr>
            </a:pPr>
          </a:p>
          <a:p>
            <a:pPr algn="l">
              <a:spcAft>
                <a:spcPts val="400"/>
              </a:spcAft>
              <a:defRPr sz="1520" b="0" i="0">
                <a:solidFill>
                  <a:srgbClr val="17291F"/>
                </a:solidFill>
                <a:latin typeface="Courier New"/>
              </a:defRPr>
            </a:pPr>
            <a:r>
              <a:t>result = discrim(correct=80, total=100,</a:t>
            </a:r>
          </a:p>
          <a:p>
            <a:pPr algn="l">
              <a:spcAft>
                <a:spcPts val="400"/>
              </a:spcAft>
              <a:defRPr sz="1520" b="0" i="0">
                <a:solidFill>
                  <a:srgbClr val="17291F"/>
                </a:solidFill>
                <a:latin typeface="Courier New"/>
              </a:defRPr>
            </a:pPr>
            <a:r>
              <a:t>                 method="triangle")</a:t>
            </a:r>
          </a:p>
          <a:p>
            <a:pPr algn="l">
              <a:spcAft>
                <a:spcPts val="400"/>
              </a:spcAft>
              <a:defRPr sz="1520" b="0" i="0">
                <a:solidFill>
                  <a:srgbClr val="17291F"/>
                </a:solidFill>
                <a:latin typeface="Courier New"/>
              </a:defRPr>
            </a:pPr>
            <a:r>
              <a:t>result.d_prime</a:t>
            </a:r>
          </a:p>
          <a:p>
            <a:pPr algn="l">
              <a:spcAft>
                <a:spcPts val="400"/>
              </a:spcAft>
              <a:defRPr sz="1520" b="0" i="0">
                <a:solidFill>
                  <a:srgbClr val="17291F"/>
                </a:solidFill>
                <a:latin typeface="Courier New"/>
              </a:defRPr>
            </a:pPr>
            <a:r>
              <a:t>result.confint()</a:t>
            </a:r>
          </a:p>
          <a:p>
            <a:pPr algn="l">
              <a:spcAft>
                <a:spcPts val="400"/>
              </a:spcAft>
              <a:defRPr sz="1520" b="0" i="0">
                <a:solidFill>
                  <a:srgbClr val="17291F"/>
                </a:solidFill>
                <a:latin typeface="Courier New"/>
              </a:defRPr>
            </a:pPr>
          </a:p>
          <a:p>
            <a:pPr algn="l">
              <a:spcAft>
                <a:spcPts val="400"/>
              </a:spcAft>
              <a:defRPr sz="1520" b="0" i="0">
                <a:solidFill>
                  <a:srgbClr val="17291F"/>
                </a:solidFill>
                <a:latin typeface="Courier New"/>
              </a:defRPr>
            </a:pPr>
            <a:r>
              <a:t>dprime_power(1.5, 100,</a:t>
            </a:r>
          </a:p>
          <a:p>
            <a:pPr algn="l">
              <a:spcAft>
                <a:spcPts val="400"/>
              </a:spcAft>
              <a:defRPr sz="1520" b="0" i="0">
                <a:solidFill>
                  <a:srgbClr val="17291F"/>
                </a:solidFill>
                <a:latin typeface="Courier New"/>
              </a:defRPr>
            </a:pPr>
            <a:r>
              <a:t>             method="triangle")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97280" y="24825960"/>
            <a:ext cx="11055096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800" b="1" i="0">
                <a:solidFill>
                  <a:srgbClr val="17291F"/>
                </a:solidFill>
                <a:latin typeface="Arial"/>
              </a:defRPr>
            </a:pPr>
            <a:r>
              <a:t>Typed results keep estimates, intervals, p-values, and summaries together.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2975336" y="20985480"/>
            <a:ext cx="11695176" cy="50292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2975336" y="21095208"/>
            <a:ext cx="11695176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900" b="0" i="0">
                <a:solidFill>
                  <a:srgbClr val="10231A"/>
                </a:solidFill>
                <a:latin typeface="Georgia"/>
              </a:defRPr>
            </a:pPr>
            <a:r>
              <a:t>Advanced models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3066776" y="21881592"/>
            <a:ext cx="3669791" cy="155448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3139928" y="22009608"/>
            <a:ext cx="3523487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400" b="1" i="0">
                <a:solidFill>
                  <a:srgbClr val="4C8A61"/>
                </a:solidFill>
                <a:latin typeface="Arial"/>
              </a:defRPr>
            </a:pPr>
            <a:r>
              <a:t>BB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3176503" y="22640544"/>
            <a:ext cx="3450335" cy="4572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600" b="1" i="0">
                <a:solidFill>
                  <a:srgbClr val="17291F"/>
                </a:solidFill>
                <a:latin typeface="Arial"/>
              </a:defRPr>
            </a:pPr>
            <a:r>
              <a:t>Beta-Binomial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3194792" y="23052024"/>
            <a:ext cx="3413759" cy="43891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350" b="0" i="0">
                <a:solidFill>
                  <a:srgbClr val="4D5A52"/>
                </a:solidFill>
                <a:latin typeface="Arial"/>
              </a:defRPr>
            </a:pPr>
            <a:r>
              <a:t>overdispersed panel data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6965167" y="21881592"/>
            <a:ext cx="3669791" cy="155448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7038319" y="22009608"/>
            <a:ext cx="3523487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400" b="1" i="0">
                <a:solidFill>
                  <a:srgbClr val="C7563F"/>
                </a:solidFill>
                <a:latin typeface="Arial"/>
              </a:defRPr>
            </a:pPr>
            <a:r>
              <a:t>SD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7074896" y="22640544"/>
            <a:ext cx="3450335" cy="4572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600" b="1" i="0">
                <a:solidFill>
                  <a:srgbClr val="17291F"/>
                </a:solidFill>
                <a:latin typeface="Arial"/>
              </a:defRPr>
            </a:pPr>
            <a:r>
              <a:t>Same-Different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7093184" y="23052024"/>
            <a:ext cx="3413759" cy="43891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350" b="0" i="0">
                <a:solidFill>
                  <a:srgbClr val="4D5A52"/>
                </a:solidFill>
                <a:latin typeface="Arial"/>
              </a:defRPr>
            </a:pPr>
            <a:r>
              <a:t>Thurstonian criterion model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0863559" y="21881592"/>
            <a:ext cx="3669791" cy="155448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0936711" y="22009608"/>
            <a:ext cx="3523487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400" b="1" i="0">
                <a:solidFill>
                  <a:srgbClr val="4C8A61"/>
                </a:solidFill>
                <a:latin typeface="Arial"/>
              </a:defRPr>
            </a:pPr>
            <a:r>
              <a:t>ROC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0973287" y="22640544"/>
            <a:ext cx="3450335" cy="4572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600" b="1" i="0">
                <a:solidFill>
                  <a:srgbClr val="17291F"/>
                </a:solidFill>
                <a:latin typeface="Arial"/>
              </a:defRPr>
            </a:pPr>
            <a:r>
              <a:t>SDT analysis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0991575" y="23052024"/>
            <a:ext cx="3413759" cy="43891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350" b="0" i="0">
                <a:solidFill>
                  <a:srgbClr val="4D5A52"/>
                </a:solidFill>
                <a:latin typeface="Arial"/>
              </a:defRPr>
            </a:pPr>
            <a:r>
              <a:t>AUC + rating data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3203936" y="23756112"/>
            <a:ext cx="11237976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750" b="1" i="0">
                <a:solidFill>
                  <a:srgbClr val="17291F"/>
                </a:solidFill>
                <a:latin typeface="Arial"/>
              </a:defRPr>
            </a:pPr>
            <a:r>
              <a:t>Also included: 2-AC, DOD, A-not-A, d-prime tests, posthoc, simulation, power, and sample-size planning.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77240" y="25831800"/>
            <a:ext cx="23893272" cy="50292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77240" y="25941528"/>
            <a:ext cx="23893272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900" b="0" i="0">
                <a:solidFill>
                  <a:srgbClr val="10231A"/>
                </a:solidFill>
                <a:latin typeface="Georgia"/>
              </a:defRPr>
            </a:pPr>
            <a:r>
              <a:t>Conclusion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783080" y="26618184"/>
            <a:ext cx="21881592" cy="10515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400" b="1" i="0">
                <a:solidFill>
                  <a:srgbClr val="17291F"/>
                </a:solidFill>
                <a:latin typeface="Arial"/>
              </a:defRPr>
            </a:pPr>
            <a:r>
              <a:t>sensPy brings the sensR contract into Python: the same sensory discrimination ideas, validated against the R reference, expressed as SciPy-native functions, typed dataclasses, and interactive Plotly figures.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40280" y="27770328"/>
            <a:ext cx="20967192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550" b="0" i="0">
                <a:solidFill>
                  <a:srgbClr val="4D5A52"/>
                </a:solidFill>
                <a:latin typeface="Arial"/>
              </a:defRPr>
            </a:pPr>
            <a:r>
              <a:t>Selected references: Brockhoff &amp; Christensen, sensR package; Macmillan &amp; Creelman, Detection Theory; SciPy; Plotly. Repository includes golden sensR v1.5.3 fixtures.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77240" y="28529280"/>
            <a:ext cx="23893272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100" b="0" i="0">
                <a:solidFill>
                  <a:srgbClr val="10231A"/>
                </a:solidFill>
                <a:latin typeface="Georgia"/>
              </a:defRPr>
            </a:pPr>
            <a:r>
              <a:t>What changes for sensometricians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777240" y="28959048"/>
            <a:ext cx="7720584" cy="1874519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78408" y="29123640"/>
            <a:ext cx="7318248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1" i="0">
                <a:solidFill>
                  <a:srgbClr val="4C8A61"/>
                </a:solidFill>
                <a:latin typeface="Arial"/>
              </a:defRPr>
            </a:pPr>
            <a:r>
              <a:t>Validated migration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88136" y="29653992"/>
            <a:ext cx="7098792" cy="10515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530" b="0" i="0">
                <a:solidFill>
                  <a:srgbClr val="17291F"/>
                </a:solidFill>
                <a:latin typeface="Arial"/>
              </a:defRPr>
            </a:pPr>
            <a:r>
              <a:t>Keep sensR-backed decisions in Python notebooks and pipelines.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863584" y="28959048"/>
            <a:ext cx="7720584" cy="1874519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064752" y="29123640"/>
            <a:ext cx="7318248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1" i="0">
                <a:solidFill>
                  <a:srgbClr val="C7563F"/>
                </a:solidFill>
                <a:latin typeface="Arial"/>
              </a:defRPr>
            </a:pPr>
            <a:r>
              <a:t>One reporting scale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174480" y="29653992"/>
            <a:ext cx="7098792" cy="10515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530" b="0" i="0">
                <a:solidFill>
                  <a:srgbClr val="17291F"/>
                </a:solidFill>
                <a:latin typeface="Arial"/>
              </a:defRPr>
            </a:pPr>
            <a:r>
              <a:t>Pc, Pd, d-prime, intervals, and power share one API.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16949928" y="28959048"/>
            <a:ext cx="7720584" cy="1874519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7151096" y="29123640"/>
            <a:ext cx="7318248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1" i="0">
                <a:solidFill>
                  <a:srgbClr val="4C8A61"/>
                </a:solidFill>
                <a:latin typeface="Arial"/>
              </a:defRPr>
            </a:pPr>
            <a:r>
              <a:t>Modern outputs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7260824" y="29653992"/>
            <a:ext cx="7098792" cy="10515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530" b="0" i="0">
                <a:solidFill>
                  <a:srgbClr val="17291F"/>
                </a:solidFill>
                <a:latin typeface="Arial"/>
              </a:defRPr>
            </a:pPr>
            <a:r>
              <a:t>Typed results and Plotly figures are easier to audit and reuse.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77240" y="31043880"/>
            <a:ext cx="23893272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000" b="0" i="0">
                <a:solidFill>
                  <a:srgbClr val="10231A"/>
                </a:solidFill>
                <a:latin typeface="Georgia"/>
              </a:defRPr>
            </a:pPr>
            <a:r>
              <a:t>Open Python sensory workflow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77240" y="31574232"/>
            <a:ext cx="5698998" cy="278892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14400" y="31793688"/>
            <a:ext cx="5424678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000" b="1" i="0">
                <a:solidFill>
                  <a:srgbClr val="C7563F"/>
                </a:solidFill>
                <a:latin typeface="Arial"/>
              </a:defRPr>
            </a:pPr>
            <a:r>
              <a:t>1. Estimate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161288" y="32342328"/>
            <a:ext cx="4930902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600" b="0" i="0">
                <a:solidFill>
                  <a:srgbClr val="17291F"/>
                </a:solidFill>
                <a:latin typeface="Arial"/>
              </a:defRPr>
            </a:pPr>
            <a:r>
              <a:t>d-prime, Pc, Pd, intervals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61288" y="33000696"/>
            <a:ext cx="4930902" cy="4023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420" b="0" i="0">
                <a:solidFill>
                  <a:srgbClr val="10231A"/>
                </a:solidFill>
                <a:latin typeface="Courier New"/>
              </a:defRPr>
            </a:pPr>
            <a:r>
              <a:t>discrim(), samediff(), dod()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161288" y="33494472"/>
            <a:ext cx="4930902" cy="43891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380" b="0" i="0">
                <a:solidFill>
                  <a:srgbClr val="4D5A52"/>
                </a:solidFill>
                <a:latin typeface="Arial"/>
              </a:defRPr>
            </a:pPr>
            <a:r>
              <a:t>typed estimates + confidence intervals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841998" y="31574232"/>
            <a:ext cx="5698998" cy="278892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979158" y="31793688"/>
            <a:ext cx="5424678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000" b="1" i="0">
                <a:solidFill>
                  <a:srgbClr val="C7563F"/>
                </a:solidFill>
                <a:latin typeface="Arial"/>
              </a:defRPr>
            </a:pPr>
            <a:r>
              <a:t>2. Plan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226046" y="32342328"/>
            <a:ext cx="4930902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600" b="0" i="0">
                <a:solidFill>
                  <a:srgbClr val="17291F"/>
                </a:solidFill>
                <a:latin typeface="Arial"/>
              </a:defRPr>
            </a:pPr>
            <a:r>
              <a:t>power and sample size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226046" y="33000696"/>
            <a:ext cx="4930902" cy="4023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420" b="0" i="0">
                <a:solidFill>
                  <a:srgbClr val="10231A"/>
                </a:solidFill>
                <a:latin typeface="Courier New"/>
              </a:defRPr>
            </a:pPr>
            <a:r>
              <a:t>discrim_power(), dprime_sample_size()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6046" y="33494472"/>
            <a:ext cx="4930902" cy="43891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380" b="0" i="0">
                <a:solidFill>
                  <a:srgbClr val="4D5A52"/>
                </a:solidFill>
                <a:latin typeface="Arial"/>
              </a:defRPr>
            </a:pPr>
            <a:r>
              <a:t>design studies before collecting data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12906756" y="31574232"/>
            <a:ext cx="5698998" cy="278892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3043916" y="31793688"/>
            <a:ext cx="5424678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000" b="1" i="0">
                <a:solidFill>
                  <a:srgbClr val="C7563F"/>
                </a:solidFill>
                <a:latin typeface="Arial"/>
              </a:defRPr>
            </a:pPr>
            <a:r>
              <a:t>3. Model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3290804" y="32342328"/>
            <a:ext cx="4930902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600" b="0" i="0">
                <a:solidFill>
                  <a:srgbClr val="17291F"/>
                </a:solidFill>
                <a:latin typeface="Arial"/>
              </a:defRPr>
            </a:pPr>
            <a:r>
              <a:t>overdispersion and criteria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3290804" y="33000696"/>
            <a:ext cx="4930902" cy="4023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420" b="0" i="0">
                <a:solidFill>
                  <a:srgbClr val="10231A"/>
                </a:solidFill>
                <a:latin typeface="Courier New"/>
              </a:defRPr>
            </a:pPr>
            <a:r>
              <a:t>betabin(), samediff(), twoac()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3290804" y="33494472"/>
            <a:ext cx="4930902" cy="43891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380" b="0" i="0">
                <a:solidFill>
                  <a:srgbClr val="4D5A52"/>
                </a:solidFill>
                <a:latin typeface="Arial"/>
              </a:defRPr>
            </a:pPr>
            <a:r>
              <a:t>panel variability + criterion effects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18971514" y="31574232"/>
            <a:ext cx="5698998" cy="278892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9108674" y="31793688"/>
            <a:ext cx="5424678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000" b="1" i="0">
                <a:solidFill>
                  <a:srgbClr val="C7563F"/>
                </a:solidFill>
                <a:latin typeface="Arial"/>
              </a:defRPr>
            </a:pPr>
            <a:r>
              <a:t>4. Visualize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9355562" y="32342328"/>
            <a:ext cx="4930902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600" b="0" i="0">
                <a:solidFill>
                  <a:srgbClr val="17291F"/>
                </a:solidFill>
                <a:latin typeface="Arial"/>
              </a:defRPr>
            </a:pPr>
            <a:r>
              <a:t>Plotly psychometric + ROC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9355562" y="33000696"/>
            <a:ext cx="4930902" cy="4023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420" b="0" i="0">
                <a:solidFill>
                  <a:srgbClr val="10231A"/>
                </a:solidFill>
                <a:latin typeface="Courier New"/>
              </a:defRPr>
            </a:pPr>
            <a:r>
              <a:t>plot_psychometric(), plot_roc()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9355562" y="33494472"/>
            <a:ext cx="4930902" cy="43891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380" b="0" i="0">
                <a:solidFill>
                  <a:srgbClr val="4D5A52"/>
                </a:solidFill>
                <a:latin typeface="Arial"/>
              </a:defRPr>
            </a:pPr>
            <a:r>
              <a:t>interactive curves for review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0" y="34674047"/>
            <a:ext cx="25447752" cy="1325880"/>
          </a:xfrm>
          <a:prstGeom prst="rect">
            <a:avLst/>
          </a:prstGeom>
          <a:solidFill>
            <a:srgbClr val="10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77240" y="35058096"/>
            <a:ext cx="1828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400"/>
              </a:spcAft>
              <a:defRPr sz="2000" b="0" i="0">
                <a:solidFill>
                  <a:srgbClr val="FFFFFF"/>
                </a:solidFill>
                <a:latin typeface="Georgia"/>
              </a:defRPr>
            </a:pPr>
            <a:r>
              <a:t>sensPy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406640" y="35076383"/>
            <a:ext cx="105156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700" b="0" i="0">
                <a:solidFill>
                  <a:srgbClr val="FFFFFF"/>
                </a:solidFill>
                <a:latin typeface="Arial"/>
              </a:defRPr>
            </a:pPr>
            <a:r>
              <a:t>github.com/aigorahub/sensPy | package v0.2.0</a:t>
            </a:r>
          </a:p>
        </p:txBody>
      </p:sp>
      <p:pic>
        <p:nvPicPr>
          <p:cNvPr id="120" name="Picture 119" descr="qr-senspy-githu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829263" y="34893504"/>
            <a:ext cx="841248" cy="8412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