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447752" cy="35999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447752" cy="35999928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447752" cy="4069080"/>
          </a:xfrm>
          <a:prstGeom prst="rect">
            <a:avLst/>
          </a:prstGeom>
          <a:solidFill>
            <a:srgbClr val="E8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05072"/>
            <a:ext cx="25447752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20040"/>
            <a:ext cx="23893272" cy="1463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9400" b="0" i="0">
                <a:solidFill>
                  <a:srgbClr val="10231A"/>
                </a:solidFill>
                <a:latin typeface="Georgia"/>
              </a:defRPr>
            </a:pPr>
            <a:r>
              <a:t>sensPy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3893272" cy="7498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700" b="0" i="0">
                <a:solidFill>
                  <a:srgbClr val="C7563F"/>
                </a:solidFill>
                <a:latin typeface="Arial"/>
              </a:defRPr>
            </a:pPr>
            <a:r>
              <a:t>Bringing the gold standard of sensR to the Python sensory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23893272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17291F"/>
                </a:solidFill>
                <a:latin typeface="Arial"/>
              </a:defRPr>
            </a:pPr>
            <a:r>
              <a:t>John M. Ennis and Bartosz Smulski | Aigora | Sensometrics 2026</a:t>
            </a:r>
          </a:p>
        </p:txBody>
      </p:sp>
      <p:pic>
        <p:nvPicPr>
          <p:cNvPr id="8" name="Picture 7" descr="sensometrics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506" y="201168"/>
            <a:ext cx="5073027" cy="15819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425196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9826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85232"/>
            <a:ext cx="11420855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3100" b="1" i="0">
                <a:solidFill>
                  <a:srgbClr val="17291F"/>
                </a:solidFill>
                <a:latin typeface="Arial"/>
              </a:defRPr>
            </a:pPr>
            <a:r>
              <a:t>sensPy brings sensR-style sensory discrimination into Python without leaving SciPy, dataclasses, or Plotly.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7114032"/>
            <a:ext cx="557326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7333488"/>
            <a:ext cx="50977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C7563F"/>
                </a:solidFill>
                <a:latin typeface="Arial"/>
              </a:defRPr>
            </a:pPr>
            <a:r>
              <a:t>Gold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7918704"/>
            <a:ext cx="4878324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150" b="0" i="0">
                <a:solidFill>
                  <a:srgbClr val="17291F"/>
                </a:solidFill>
                <a:latin typeface="Arial"/>
              </a:defRPr>
            </a:pPr>
            <a:r>
              <a:t>Preserve the sensR numerical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8650224"/>
            <a:ext cx="480517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Golden fixtures keep the Python port tied to the R reference.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6268" y="7114032"/>
            <a:ext cx="557326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4012" y="7333488"/>
            <a:ext cx="50977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C7563F"/>
                </a:solidFill>
                <a:latin typeface="Arial"/>
              </a:defRPr>
            </a:pPr>
            <a:r>
              <a:t>Python-native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3740" y="7918704"/>
            <a:ext cx="4878324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150" b="0" i="0">
                <a:solidFill>
                  <a:srgbClr val="17291F"/>
                </a:solidFill>
                <a:latin typeface="Arial"/>
              </a:defRPr>
            </a:pPr>
            <a:r>
              <a:t>Typed objects, plots, and planning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316" y="8650224"/>
            <a:ext cx="480517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Designed for notebooks, pipelines, and interactive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9646920"/>
            <a:ext cx="11055096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C7563F"/>
                </a:solidFill>
                <a:latin typeface="Arial"/>
              </a:defRPr>
            </a:pPr>
            <a:r>
              <a:t>The result: validated migration for sensory teams already working in Python.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75336" y="425196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75336" y="439826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Evidence at a glance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021056" y="5285232"/>
            <a:ext cx="564184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94208" y="5394960"/>
            <a:ext cx="5495544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C7563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30784" y="6126480"/>
            <a:ext cx="5422392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protocol variants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22224" y="6638544"/>
            <a:ext cx="5239512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8 single + 5 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40512" y="7022592"/>
            <a:ext cx="5202936" cy="3566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forced-choice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982944" y="5285232"/>
            <a:ext cx="564184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56095" y="5394960"/>
            <a:ext cx="5495544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4C8A61"/>
                </a:solidFill>
                <a:latin typeface="Arial"/>
              </a:defRPr>
            </a:pPr>
            <a:r>
              <a:t>740+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92672" y="6126480"/>
            <a:ext cx="5422392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automated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184111" y="6638544"/>
            <a:ext cx="5239512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851 collected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399" y="7022592"/>
            <a:ext cx="5202936" cy="3566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parity + boundary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021056" y="7781544"/>
            <a:ext cx="564184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094208" y="7891271"/>
            <a:ext cx="5495544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C7563F"/>
                </a:solidFill>
                <a:latin typeface="Arial"/>
              </a:defRPr>
            </a:pPr>
            <a:r>
              <a:t>1.5.3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30784" y="8622792"/>
            <a:ext cx="5422392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sensR fixture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22224" y="9134856"/>
            <a:ext cx="5239512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CRAN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40512" y="9518904"/>
            <a:ext cx="5202936" cy="3566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golden parity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982944" y="7781544"/>
            <a:ext cx="5641848" cy="21488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056095" y="7891271"/>
            <a:ext cx="5495544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4C8A61"/>
                </a:solidFill>
                <a:latin typeface="Arial"/>
              </a:defRPr>
            </a:pPr>
            <a:r>
              <a:t>Plotly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92672" y="8622792"/>
            <a:ext cx="5422392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interactive figures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184111" y="9134856"/>
            <a:ext cx="5239512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psychometric + ROC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399" y="9518904"/>
            <a:ext cx="5202936" cy="3566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audit-ready outputs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49656" y="10222992"/>
            <a:ext cx="11146536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17291F"/>
                </a:solidFill>
                <a:latin typeface="Arial"/>
              </a:defRPr>
            </a:pPr>
            <a:r>
              <a:t>Numerical parity target: 3-6 decimal places.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1101852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1116482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Protocol coverage</a:t>
            </a:r>
          </a:p>
        </p:txBody>
      </p:sp>
      <p:pic>
        <p:nvPicPr>
          <p:cNvPr id="46" name="Picture 45" descr="protocol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866" y="12051792"/>
            <a:ext cx="8207923" cy="54406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5840" y="17629632"/>
            <a:ext cx="11237976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4D5A52"/>
                </a:solidFill>
                <a:latin typeface="Arial"/>
              </a:defRPr>
            </a:pPr>
            <a:r>
              <a:t>Common d-prime scale, protocol-specific guessing.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75336" y="1101852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75336" y="1116482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Psychometric functions</a:t>
            </a:r>
          </a:p>
        </p:txBody>
      </p:sp>
      <p:pic>
        <p:nvPicPr>
          <p:cNvPr id="50" name="Picture 49" descr="psychometri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7059" y="12051792"/>
            <a:ext cx="8651729" cy="54406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203936" y="17629632"/>
            <a:ext cx="11237976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4D5A52"/>
                </a:solidFill>
                <a:latin typeface="Arial"/>
              </a:defRPr>
            </a:pPr>
            <a:r>
              <a:t>One API maps Pc, Pd, and d-prime.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1924812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1939442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Validation surface</a:t>
            </a:r>
          </a:p>
        </p:txBody>
      </p:sp>
      <p:pic>
        <p:nvPicPr>
          <p:cNvPr id="54" name="Picture 53" descr="test_inven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302" y="20281392"/>
            <a:ext cx="10435051" cy="53949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05840" y="25831800"/>
            <a:ext cx="11237976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4D5A52"/>
                </a:solidFill>
                <a:latin typeface="Arial"/>
              </a:defRPr>
            </a:pPr>
            <a:r>
              <a:t>Golden sensR fixtures run beside unit, model, power, and plotting tests.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75336" y="19248120"/>
            <a:ext cx="11695176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975336" y="19394424"/>
            <a:ext cx="11695176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Advanced models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021056" y="20372832"/>
            <a:ext cx="3700271" cy="23774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094208" y="20482560"/>
            <a:ext cx="3553967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4C8A61"/>
                </a:solidFill>
                <a:latin typeface="Arial"/>
              </a:defRPr>
            </a:pPr>
            <a:r>
              <a:t>BB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130784" y="21214080"/>
            <a:ext cx="3480815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Beta-Binomial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22224" y="21726144"/>
            <a:ext cx="3297935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overdispersed panel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40512" y="22110192"/>
            <a:ext cx="3261359" cy="5852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panel variability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972787" y="20372832"/>
            <a:ext cx="3700271" cy="23774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045939" y="20482560"/>
            <a:ext cx="3553967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C7563F"/>
                </a:solidFill>
                <a:latin typeface="Arial"/>
              </a:defRPr>
            </a:pPr>
            <a:r>
              <a:t>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82516" y="21214080"/>
            <a:ext cx="3480815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Same-Different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173955" y="21726144"/>
            <a:ext cx="3297935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Thurstonian criterion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192243" y="22110192"/>
            <a:ext cx="3261359" cy="5852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criterion effects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0924520" y="20372832"/>
            <a:ext cx="3700271" cy="237744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997671" y="20482560"/>
            <a:ext cx="3553967" cy="65836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5000" b="1" i="0">
                <a:solidFill>
                  <a:srgbClr val="4C8A61"/>
                </a:solidFill>
                <a:latin typeface="Arial"/>
              </a:defRPr>
            </a:pPr>
            <a:r>
              <a:t>ROC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4248" y="21214080"/>
            <a:ext cx="3480815" cy="56692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17291F"/>
                </a:solidFill>
                <a:latin typeface="Arial"/>
              </a:defRPr>
            </a:pPr>
            <a:r>
              <a:t>SDT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125688" y="21726144"/>
            <a:ext cx="3297935" cy="38404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AUC + rating data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143976" y="22110192"/>
            <a:ext cx="3261359" cy="58521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550" b="0" i="0">
                <a:solidFill>
                  <a:srgbClr val="4D5A52"/>
                </a:solidFill>
                <a:latin typeface="Arial"/>
              </a:defRPr>
            </a:pPr>
            <a:r>
              <a:t>decision curves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021056" y="23143464"/>
            <a:ext cx="11603736" cy="2395728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295376" y="23417784"/>
            <a:ext cx="11055096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C7563F"/>
                </a:solidFill>
                <a:latin typeface="Arial"/>
              </a:defRPr>
            </a:pPr>
            <a:r>
              <a:t>Validation is built into the architecture.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341096" y="24213312"/>
            <a:ext cx="10963655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17291F"/>
                </a:solidFill>
                <a:latin typeface="Arial"/>
              </a:defRPr>
            </a:pPr>
            <a:r>
              <a:t>sensR fixtures -&gt; SciPy kernels -&gt; dataclass results -&gt; Plotly figures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03936" y="25831800"/>
            <a:ext cx="1123797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200" b="1" i="0">
                <a:solidFill>
                  <a:srgbClr val="17291F"/>
                </a:solidFill>
                <a:latin typeface="Arial"/>
              </a:defRPr>
            </a:pPr>
            <a:r>
              <a:t>Also included: 2-AC, DOD, A-not-A, d-prime tests, posthoc, simulation, power, and sample-size planning.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" y="27569160"/>
            <a:ext cx="23893272" cy="64008"/>
          </a:xfrm>
          <a:prstGeom prst="rect">
            <a:avLst/>
          </a:prstGeom>
          <a:solidFill>
            <a:srgbClr val="C7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27715464"/>
            <a:ext cx="23893272" cy="69494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800" b="0" i="0">
                <a:solidFill>
                  <a:srgbClr val="10231A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3080" y="28355544"/>
            <a:ext cx="2188159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3100" b="1" i="0">
                <a:solidFill>
                  <a:srgbClr val="17291F"/>
                </a:solidFill>
                <a:latin typeface="Arial"/>
              </a:defRPr>
            </a:pPr>
            <a:r>
              <a:t>sensPy brings the sensR contract into Python: validated sensory discrimination, typed results, and interactive figures in one workflow.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7240" y="29900879"/>
            <a:ext cx="23893272" cy="5029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3000" b="0" i="0">
                <a:solidFill>
                  <a:srgbClr val="10231A"/>
                </a:solidFill>
                <a:latin typeface="Georgia"/>
              </a:defRPr>
            </a:pPr>
            <a:r>
              <a:t>What changes for sensometricians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7240" y="30540960"/>
            <a:ext cx="7720584" cy="297180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3271" y="30796992"/>
            <a:ext cx="7208520" cy="5303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4C8A61"/>
                </a:solidFill>
                <a:latin typeface="Arial"/>
              </a:defRPr>
            </a:pPr>
            <a:r>
              <a:t>Validated migration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61288" y="31491935"/>
            <a:ext cx="6952488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17291F"/>
                </a:solidFill>
                <a:latin typeface="Arial"/>
              </a:defRPr>
            </a:pPr>
            <a:r>
              <a:t>Keep sensR-backed decisions in Python notebooks and pipelines.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52728" y="32479487"/>
            <a:ext cx="6769608" cy="83210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Same statistical contract; modern workflow surface.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863584" y="30540960"/>
            <a:ext cx="7720584" cy="297180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19616" y="30796992"/>
            <a:ext cx="7208520" cy="5303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C7563F"/>
                </a:solidFill>
                <a:latin typeface="Arial"/>
              </a:defRPr>
            </a:pPr>
            <a:r>
              <a:t>One reporting scale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47632" y="31491935"/>
            <a:ext cx="6952488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17291F"/>
                </a:solidFill>
                <a:latin typeface="Arial"/>
              </a:defRPr>
            </a:pPr>
            <a:r>
              <a:t>Pc, Pd, d-prime, intervals, and power share one API.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39072" y="32479487"/>
            <a:ext cx="6769608" cy="83210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Protocol differences stay explicit and comparable.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6949928" y="30540960"/>
            <a:ext cx="7720584" cy="2971800"/>
          </a:xfrm>
          <a:prstGeom prst="roundRect">
            <a:avLst/>
          </a:prstGeom>
          <a:solidFill>
            <a:srgbClr val="E8E3D8"/>
          </a:solidFill>
          <a:ln w="12700">
            <a:solidFill>
              <a:srgbClr val="D2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205960" y="30796992"/>
            <a:ext cx="7208520" cy="5303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4C8A61"/>
                </a:solidFill>
                <a:latin typeface="Arial"/>
              </a:defRPr>
            </a:pPr>
            <a:r>
              <a:t>Modern outputs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333976" y="31491935"/>
            <a:ext cx="6952488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2200" b="0" i="0">
                <a:solidFill>
                  <a:srgbClr val="17291F"/>
                </a:solidFill>
                <a:latin typeface="Arial"/>
              </a:defRPr>
            </a:pPr>
            <a:r>
              <a:t>Typed results and Plotly figures are easier to audit and reuse.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425416" y="32479487"/>
            <a:ext cx="6769608" cy="83210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400"/>
              </a:spcAft>
              <a:defRPr sz="1800" b="0" i="0">
                <a:solidFill>
                  <a:srgbClr val="4D5A52"/>
                </a:solidFill>
                <a:latin typeface="Arial"/>
              </a:defRPr>
            </a:pPr>
            <a:r>
              <a:t>Results travel as objects, not loose console output.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40280" y="33713928"/>
            <a:ext cx="20967192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1600" b="0" i="0">
                <a:solidFill>
                  <a:srgbClr val="4D5A52"/>
                </a:solidFill>
                <a:latin typeface="Arial"/>
              </a:defRPr>
            </a:pPr>
            <a:r>
              <a:t>References: sensR package, CRAN v1.5-3, doi:10.32614/CRAN.package.sensR; Brockhoff &amp; Christensen (2010), doi:10.1016/j.foodqual.2009.04.003; Macmillan &amp; Creelman; SciPy; Plotly.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34674047"/>
            <a:ext cx="25447752" cy="1325880"/>
          </a:xfrm>
          <a:prstGeom prst="rect">
            <a:avLst/>
          </a:prstGeom>
          <a:solidFill>
            <a:srgbClr val="10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7240" y="3502152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  <a:defRPr sz="2400" b="0" i="0">
                <a:solidFill>
                  <a:srgbClr val="FFFFFF"/>
                </a:solidFill>
                <a:latin typeface="Georgia"/>
              </a:defRPr>
            </a:pPr>
            <a:r>
              <a:t>sensPy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06640" y="35058096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  <a:defRPr sz="2000" b="0" i="0">
                <a:solidFill>
                  <a:srgbClr val="FFFFFF"/>
                </a:solidFill>
                <a:latin typeface="Arial"/>
              </a:defRPr>
            </a:pPr>
            <a:r>
              <a:t>github.com/aigorahub/sensPy | package v0.2.0</a:t>
            </a:r>
          </a:p>
        </p:txBody>
      </p:sp>
      <p:pic>
        <p:nvPicPr>
          <p:cNvPr id="97" name="Picture 96" descr="qr-senspy-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0391" y="3485692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