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5447752" cy="35999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447752" cy="35999928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447752" cy="3977639"/>
          </a:xfrm>
          <a:prstGeom prst="rect">
            <a:avLst/>
          </a:prstGeom>
          <a:solidFill>
            <a:srgbClr val="E8E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13631"/>
            <a:ext cx="2544775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23893272" cy="11430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8800" b="0" i="0">
                <a:solidFill>
                  <a:srgbClr val="10231A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23893272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200" b="0" i="0">
                <a:solidFill>
                  <a:srgbClr val="C7563F"/>
                </a:solidFill>
                <a:latin typeface="Arial"/>
              </a:defRPr>
            </a:pPr>
            <a:r>
              <a:t>Bringing the gold standard of sensR to the Python sensory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2389327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1" i="0">
                <a:solidFill>
                  <a:srgbClr val="17291F"/>
                </a:solidFill>
                <a:latin typeface="Arial"/>
              </a:defRPr>
            </a:pPr>
            <a:r>
              <a:t>John M. Ennis | Aigora | Sensometrics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0" y="566928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400"/>
              </a:spcAft>
              <a:defRPr sz="1150" b="0" i="0">
                <a:solidFill>
                  <a:srgbClr val="526057"/>
                </a:solidFill>
                <a:latin typeface="Arial"/>
              </a:defRPr>
            </a:pPr>
            <a:r>
              <a:t>Python-native Thurstonian sensory discrimination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2976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0740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65192"/>
            <a:ext cx="11603736" cy="1051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17291F"/>
                </a:solidFill>
                <a:latin typeface="Arial"/>
              </a:defRPr>
            </a:pPr>
            <a:r>
              <a:t>sensR is the trusted R reference for sensory discrimination. Python teams need the same signal-detection discipline without leaving their SciPy, dataclass, and Plotly workflows.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6153912"/>
            <a:ext cx="557326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6318504"/>
            <a:ext cx="5170931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400" b="1" i="0">
                <a:solidFill>
                  <a:srgbClr val="C7563F"/>
                </a:solidFill>
                <a:latin typeface="Arial"/>
              </a:defRPr>
            </a:pPr>
            <a:r>
              <a:t>Gold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6684264"/>
            <a:ext cx="4988052" cy="6675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400" b="0" i="0">
                <a:solidFill>
                  <a:srgbClr val="17291F"/>
                </a:solidFill>
                <a:latin typeface="Arial"/>
              </a:defRPr>
            </a:pPr>
            <a:r>
              <a:t>Preserve sensR's numerical contract and protocol vocabulary.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16268" y="6153912"/>
            <a:ext cx="557326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17436" y="6318504"/>
            <a:ext cx="5170931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400" b="1" i="0">
                <a:solidFill>
                  <a:srgbClr val="C7563F"/>
                </a:solidFill>
                <a:latin typeface="Arial"/>
              </a:defRPr>
            </a:pPr>
            <a:r>
              <a:t>Python-native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8876" y="6684264"/>
            <a:ext cx="4988052" cy="6675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400" b="0" i="0">
                <a:solidFill>
                  <a:srgbClr val="17291F"/>
                </a:solidFill>
                <a:latin typeface="Arial"/>
              </a:defRPr>
            </a:pPr>
            <a:r>
              <a:t>Return typed objects, plots, and planning tools in one ecosystem.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1142085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650" b="1" i="0">
                <a:solidFill>
                  <a:srgbClr val="C7563F"/>
                </a:solidFill>
                <a:latin typeface="Arial"/>
              </a:defRPr>
            </a:pPr>
            <a:r>
              <a:t>Goal: make sensory discrimination methods feel native in Python without loosening the validation discipline.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975336" y="42976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75336" y="440740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What sensPy ports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021056" y="5010912"/>
            <a:ext cx="3730751" cy="1234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0" y="5102351"/>
            <a:ext cx="3621023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300" b="1" i="0">
                <a:solidFill>
                  <a:srgbClr val="C7563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12496" y="5568696"/>
            <a:ext cx="3547871" cy="31089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120" b="1" i="0">
                <a:solidFill>
                  <a:srgbClr val="17291F"/>
                </a:solidFill>
                <a:latin typeface="Arial"/>
              </a:defRPr>
            </a:pPr>
            <a:r>
              <a:t>protocol variants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30784" y="5907023"/>
            <a:ext cx="3511295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880" b="0" i="0">
                <a:solidFill>
                  <a:srgbClr val="4D5A52"/>
                </a:solidFill>
                <a:latin typeface="Arial"/>
              </a:defRPr>
            </a:pPr>
            <a:r>
              <a:t>8 single + 5 double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957548" y="5010912"/>
            <a:ext cx="3730751" cy="1234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012411" y="5102351"/>
            <a:ext cx="3621023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300" b="1" i="0">
                <a:solidFill>
                  <a:srgbClr val="4C8A61"/>
                </a:solidFill>
                <a:latin typeface="Arial"/>
              </a:defRPr>
            </a:pPr>
            <a:r>
              <a:t>740+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48988" y="5568696"/>
            <a:ext cx="3547871" cy="31089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120" b="1" i="0">
                <a:solidFill>
                  <a:srgbClr val="17291F"/>
                </a:solidFill>
                <a:latin typeface="Arial"/>
              </a:defRPr>
            </a:pPr>
            <a:r>
              <a:t>automated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67276" y="5907023"/>
            <a:ext cx="3511295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880" b="0" i="0">
                <a:solidFill>
                  <a:srgbClr val="4D5A52"/>
                </a:solidFill>
                <a:latin typeface="Arial"/>
              </a:defRPr>
            </a:pPr>
            <a:r>
              <a:t>851 collected cases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894039" y="5010912"/>
            <a:ext cx="3730751" cy="1234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948903" y="5102351"/>
            <a:ext cx="3621023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300" b="1" i="0">
                <a:solidFill>
                  <a:srgbClr val="C7563F"/>
                </a:solidFill>
                <a:latin typeface="Arial"/>
              </a:defRPr>
            </a:pPr>
            <a:r>
              <a:t>1.5.3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985480" y="5568696"/>
            <a:ext cx="3547871" cy="31089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120" b="1" i="0">
                <a:solidFill>
                  <a:srgbClr val="17291F"/>
                </a:solidFill>
                <a:latin typeface="Arial"/>
              </a:defRPr>
            </a:pPr>
            <a:r>
              <a:t>sensR fixture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03768" y="5907023"/>
            <a:ext cx="3511295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880" b="0" i="0">
                <a:solidFill>
                  <a:srgbClr val="4D5A52"/>
                </a:solidFill>
                <a:latin typeface="Arial"/>
              </a:defRPr>
            </a:pPr>
            <a:r>
              <a:t>golden parity 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021056" y="6446520"/>
            <a:ext cx="3730751" cy="1234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075920" y="6537959"/>
            <a:ext cx="3621023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300" b="1" i="0">
                <a:solidFill>
                  <a:srgbClr val="4C8A61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12496" y="7004304"/>
            <a:ext cx="3547871" cy="31089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120" b="1" i="0">
                <a:solidFill>
                  <a:srgbClr val="17291F"/>
                </a:solidFill>
                <a:latin typeface="Arial"/>
              </a:defRPr>
            </a:pPr>
            <a:r>
              <a:t>dataclasses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130784" y="7342631"/>
            <a:ext cx="3511295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880" b="0" i="0">
                <a:solidFill>
                  <a:srgbClr val="4D5A52"/>
                </a:solidFill>
                <a:latin typeface="Arial"/>
              </a:defRPr>
            </a:pPr>
            <a:r>
              <a:t>typed Python results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6957548" y="6446520"/>
            <a:ext cx="3730751" cy="1234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012411" y="6537959"/>
            <a:ext cx="3621023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300" b="1" i="0">
                <a:solidFill>
                  <a:srgbClr val="4C8A61"/>
                </a:solidFill>
                <a:latin typeface="Arial"/>
              </a:defRPr>
            </a:pPr>
            <a:r>
              <a:t>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048988" y="7004304"/>
            <a:ext cx="3547871" cy="31089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120" b="1" i="0">
                <a:solidFill>
                  <a:srgbClr val="17291F"/>
                </a:solidFill>
                <a:latin typeface="Arial"/>
              </a:defRPr>
            </a:pPr>
            <a:r>
              <a:t>public exports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67276" y="7342631"/>
            <a:ext cx="3511295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880" b="0" i="0">
                <a:solidFill>
                  <a:srgbClr val="4D5A52"/>
                </a:solidFill>
                <a:latin typeface="Arial"/>
              </a:defRPr>
            </a:pPr>
            <a:r>
              <a:t>single import surface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0894039" y="6446520"/>
            <a:ext cx="3730751" cy="1234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948903" y="6537959"/>
            <a:ext cx="3621023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300" b="1" i="0">
                <a:solidFill>
                  <a:srgbClr val="C7563F"/>
                </a:solidFill>
                <a:latin typeface="Arial"/>
              </a:defRPr>
            </a:pPr>
            <a:r>
              <a:t>Plotly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85480" y="7004304"/>
            <a:ext cx="3547871" cy="31089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120" b="1" i="0">
                <a:solidFill>
                  <a:srgbClr val="17291F"/>
                </a:solidFill>
                <a:latin typeface="Arial"/>
              </a:defRPr>
            </a:pPr>
            <a:r>
              <a:t>interactive figures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03768" y="7342631"/>
            <a:ext cx="3511295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880" b="0" i="0">
                <a:solidFill>
                  <a:srgbClr val="4D5A52"/>
                </a:solidFill>
                <a:latin typeface="Arial"/>
              </a:defRPr>
            </a:pPr>
            <a:r>
              <a:t>psychometric + ROC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139928" y="7955279"/>
            <a:ext cx="11365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00" b="1" i="0">
                <a:solidFill>
                  <a:srgbClr val="17291F"/>
                </a:solidFill>
                <a:latin typeface="Arial"/>
              </a:defRPr>
            </a:pPr>
            <a:r>
              <a:t>Numerical parity targets: 3-6 decimal places across sensR-backed fixtures and boundary cases.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882396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893368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Protocol coverage</a:t>
            </a:r>
          </a:p>
        </p:txBody>
      </p:sp>
      <p:pic>
        <p:nvPicPr>
          <p:cNvPr id="48" name="Picture 47" descr="protocol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367" y="9464040"/>
            <a:ext cx="6962922" cy="43434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05840" y="13926312"/>
            <a:ext cx="11237976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Forced-choice protocols share a common d-prime reporting scale while preserving each protocol's guessing structure.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975336" y="882396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975336" y="893368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Psychometric functions</a:t>
            </a:r>
          </a:p>
        </p:txBody>
      </p:sp>
      <p:pic>
        <p:nvPicPr>
          <p:cNvPr id="52" name="Picture 51" descr="psychometri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0219" y="9464040"/>
            <a:ext cx="6365409" cy="43708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3203936" y="13944600"/>
            <a:ext cx="1123797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One API maps Pc, Pd, and d-prime across sensory protocols.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148590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1496872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Validation surface</a:t>
            </a:r>
          </a:p>
        </p:txBody>
      </p:sp>
      <p:pic>
        <p:nvPicPr>
          <p:cNvPr id="56" name="Picture 55" descr="test_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5864" y="15499080"/>
            <a:ext cx="7337928" cy="45262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05840" y="20125944"/>
            <a:ext cx="1123797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Golden sensR fixtures run beside unit, coverage, simulation, plotting, and model tests.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975336" y="148590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975336" y="1496872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SciPy-native architecture</a:t>
            </a:r>
          </a:p>
        </p:txBody>
      </p:sp>
      <p:pic>
        <p:nvPicPr>
          <p:cNvPr id="60" name="Picture 59" descr="architecture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24420" y="15553944"/>
            <a:ext cx="5997007" cy="2331719"/>
          </a:xfrm>
          <a:prstGeom prst="rect">
            <a:avLst/>
          </a:prstGeom>
        </p:spPr>
      </p:pic>
      <p:pic>
        <p:nvPicPr>
          <p:cNvPr id="61" name="Picture 60" descr="roc_brid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70526" y="18114264"/>
            <a:ext cx="3304796" cy="260604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777240" y="209854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2109520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Python ergonomics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60120" y="21652992"/>
            <a:ext cx="11329415" cy="29260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80160" y="21863304"/>
            <a:ext cx="10689336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1230" b="0" i="0">
                <a:solidFill>
                  <a:srgbClr val="17291F"/>
                </a:solidFill>
                <a:latin typeface="Courier New"/>
              </a:defRPr>
            </a:pPr>
            <a:r>
              <a:t>from senspy import discrim, discrim_power</a:t>
            </a:r>
          </a:p>
          <a:p>
            <a:pPr algn="l">
              <a:spcAft>
                <a:spcPts val="400"/>
              </a:spcAft>
              <a:defRPr sz="1230" b="0" i="0">
                <a:solidFill>
                  <a:srgbClr val="17291F"/>
                </a:solidFill>
                <a:latin typeface="Courier New"/>
              </a:defRPr>
            </a:pPr>
          </a:p>
          <a:p>
            <a:pPr algn="l">
              <a:spcAft>
                <a:spcPts val="400"/>
              </a:spcAft>
              <a:defRPr sz="1230" b="0" i="0">
                <a:solidFill>
                  <a:srgbClr val="17291F"/>
                </a:solidFill>
                <a:latin typeface="Courier New"/>
              </a:defRPr>
            </a:pPr>
            <a:r>
              <a:t>result = discrim(correct=80, total=100,</a:t>
            </a:r>
          </a:p>
          <a:p>
            <a:pPr algn="l">
              <a:spcAft>
                <a:spcPts val="400"/>
              </a:spcAft>
              <a:defRPr sz="1230" b="0" i="0">
                <a:solidFill>
                  <a:srgbClr val="17291F"/>
                </a:solidFill>
                <a:latin typeface="Courier New"/>
              </a:defRPr>
            </a:pPr>
            <a:r>
              <a:t>                 method="triangle")</a:t>
            </a:r>
          </a:p>
          <a:p>
            <a:pPr algn="l">
              <a:spcAft>
                <a:spcPts val="400"/>
              </a:spcAft>
              <a:defRPr sz="1230" b="0" i="0">
                <a:solidFill>
                  <a:srgbClr val="17291F"/>
                </a:solidFill>
                <a:latin typeface="Courier New"/>
              </a:defRPr>
            </a:pPr>
            <a:r>
              <a:t>print(result.d_prime, result.confint())</a:t>
            </a:r>
          </a:p>
          <a:p>
            <a:pPr algn="l">
              <a:spcAft>
                <a:spcPts val="400"/>
              </a:spcAft>
              <a:defRPr sz="1230" b="0" i="0">
                <a:solidFill>
                  <a:srgbClr val="17291F"/>
                </a:solidFill>
                <a:latin typeface="Courier New"/>
              </a:defRPr>
            </a:pPr>
          </a:p>
          <a:p>
            <a:pPr algn="l">
              <a:spcAft>
                <a:spcPts val="400"/>
              </a:spcAft>
              <a:defRPr sz="1230" b="0" i="0">
                <a:solidFill>
                  <a:srgbClr val="17291F"/>
                </a:solidFill>
                <a:latin typeface="Courier New"/>
              </a:defRPr>
            </a:pPr>
            <a:r>
              <a:t>power = discrim_power(d_prime=1.5,</a:t>
            </a:r>
          </a:p>
          <a:p>
            <a:pPr algn="l">
              <a:spcAft>
                <a:spcPts val="400"/>
              </a:spcAft>
              <a:defRPr sz="1230" b="0" i="0">
                <a:solidFill>
                  <a:srgbClr val="17291F"/>
                </a:solidFill>
                <a:latin typeface="Courier New"/>
              </a:defRPr>
            </a:pPr>
            <a:r>
              <a:t>                      sample_size=100,</a:t>
            </a:r>
          </a:p>
          <a:p>
            <a:pPr algn="l">
              <a:spcAft>
                <a:spcPts val="400"/>
              </a:spcAft>
              <a:defRPr sz="1230" b="0" i="0">
                <a:solidFill>
                  <a:srgbClr val="17291F"/>
                </a:solidFill>
                <a:latin typeface="Courier New"/>
              </a:defRPr>
            </a:pPr>
            <a:r>
              <a:t>                      method="triangle")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7280" y="24734519"/>
            <a:ext cx="1105509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50" b="1" i="0">
                <a:solidFill>
                  <a:srgbClr val="17291F"/>
                </a:solidFill>
                <a:latin typeface="Arial"/>
              </a:defRPr>
            </a:pPr>
            <a:r>
              <a:t>Typed result objects replace loose console output: estimates, intervals, p-values, and summaries travel together.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975336" y="209854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975336" y="2109520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Advanced models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066776" y="2179015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139928" y="2191816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4C8A61"/>
                </a:solidFill>
                <a:latin typeface="Arial"/>
              </a:defRPr>
            </a:pPr>
            <a:r>
              <a:t>BB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176503" y="22549103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Beta-Binomial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194792" y="2296058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overdispersed panel data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965167" y="2179015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038319" y="2191816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C7563F"/>
                </a:solidFill>
                <a:latin typeface="Arial"/>
              </a:defRPr>
            </a:pPr>
            <a:r>
              <a:t>SD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074896" y="22549103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Same-Different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093184" y="2296058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Thurstonian criterion model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863559" y="2179015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936711" y="2191816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4C8A61"/>
                </a:solidFill>
                <a:latin typeface="Arial"/>
              </a:defRPr>
            </a:pPr>
            <a:r>
              <a:t>ROC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973287" y="22549103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SDT analysis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991575" y="2296058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AUC + rating data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203936" y="23664672"/>
            <a:ext cx="1123797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50" b="1" i="0">
                <a:solidFill>
                  <a:srgbClr val="17291F"/>
                </a:solidFill>
                <a:latin typeface="Arial"/>
              </a:defRPr>
            </a:pPr>
            <a:r>
              <a:t>Also included: 2-AC, DOD, A-not-A, d-prime comparison, posthoc tests, simulation, power, and sample-size planning.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7240" y="25831800"/>
            <a:ext cx="23893272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7240" y="25941528"/>
            <a:ext cx="23893272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83080" y="26618184"/>
            <a:ext cx="21881592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17291F"/>
                </a:solidFill>
                <a:latin typeface="Arial"/>
              </a:defRPr>
            </a:pPr>
            <a:r>
              <a:t>sensPy brings the sensR contract into Python: the same sensory discrimination ideas, validated against the R reference, expressed as SciPy-native functions, typed dataclasses, and interactive Plotly figures.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0280" y="27614880"/>
            <a:ext cx="20967192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Selected references: Brockhoff &amp; Christensen, sensR package; Macmillan &amp; Creelman, Detection Theory; SciPy; Plotly. Repository includes golden sensR v1.5.3 fixtures.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" y="28373832"/>
            <a:ext cx="2389327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10231A"/>
                </a:solidFill>
                <a:latin typeface="Georgia"/>
              </a:defRPr>
            </a:pPr>
            <a:r>
              <a:t>What changes for sensometricians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77240" y="28803600"/>
            <a:ext cx="7720584" cy="1874519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78408" y="28968192"/>
            <a:ext cx="7318248" cy="32918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00" b="1" i="0">
                <a:solidFill>
                  <a:srgbClr val="4C8A61"/>
                </a:solidFill>
                <a:latin typeface="Arial"/>
              </a:defRPr>
            </a:pPr>
            <a:r>
              <a:t>Validated migration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51560" y="29425392"/>
            <a:ext cx="7171944" cy="11247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70" b="0" i="0">
                <a:solidFill>
                  <a:srgbClr val="17291F"/>
                </a:solidFill>
                <a:latin typeface="Arial"/>
              </a:defRPr>
            </a:pPr>
            <a:r>
              <a:t>Keep sensR-backed decisions while moving analysis, planning, and visualization into Python notebooks and pipelines.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863584" y="28803600"/>
            <a:ext cx="7720584" cy="1874519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64752" y="28968192"/>
            <a:ext cx="7318248" cy="32918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00" b="1" i="0">
                <a:solidFill>
                  <a:srgbClr val="C7563F"/>
                </a:solidFill>
                <a:latin typeface="Arial"/>
              </a:defRPr>
            </a:pPr>
            <a:r>
              <a:t>One reporting scale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37904" y="29425392"/>
            <a:ext cx="7171944" cy="11247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70" b="0" i="0">
                <a:solidFill>
                  <a:srgbClr val="17291F"/>
                </a:solidFill>
                <a:latin typeface="Arial"/>
              </a:defRPr>
            </a:pPr>
            <a:r>
              <a:t>Protocols expose Pc, Pd, d-prime, confidence intervals, and power on a shared API surface.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6949928" y="28803600"/>
            <a:ext cx="7720584" cy="1874519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7151096" y="28968192"/>
            <a:ext cx="7318248" cy="32918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00" b="1" i="0">
                <a:solidFill>
                  <a:srgbClr val="4C8A61"/>
                </a:solidFill>
                <a:latin typeface="Arial"/>
              </a:defRPr>
            </a:pPr>
            <a:r>
              <a:t>Modern outputs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224248" y="29425392"/>
            <a:ext cx="7171944" cy="11247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70" b="0" i="0">
                <a:solidFill>
                  <a:srgbClr val="17291F"/>
                </a:solidFill>
                <a:latin typeface="Arial"/>
              </a:defRPr>
            </a:pPr>
            <a:r>
              <a:t>Typed result objects and Plotly figures make estimates easier to audit, compare, and reuse.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7240" y="30678119"/>
            <a:ext cx="2389327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000" b="0" i="0">
                <a:solidFill>
                  <a:srgbClr val="10231A"/>
                </a:solidFill>
                <a:latin typeface="Georgia"/>
              </a:defRPr>
            </a:pPr>
            <a:r>
              <a:t>Open Python sensory workflow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77240" y="31208471"/>
            <a:ext cx="5698998" cy="278892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400" y="31501079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1" i="0">
                <a:solidFill>
                  <a:srgbClr val="C7563F"/>
                </a:solidFill>
                <a:latin typeface="Arial"/>
              </a:defRPr>
            </a:pPr>
            <a:r>
              <a:t>1. Estimate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61288" y="32004000"/>
            <a:ext cx="4930902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30" b="0" i="0">
                <a:solidFill>
                  <a:srgbClr val="17291F"/>
                </a:solidFill>
                <a:latin typeface="Arial"/>
              </a:defRPr>
            </a:pPr>
            <a:r>
              <a:t>d-prime, Pc, Pd, intervals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61288" y="32634935"/>
            <a:ext cx="4930902" cy="34747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70" b="0" i="0">
                <a:solidFill>
                  <a:srgbClr val="10231A"/>
                </a:solidFill>
                <a:latin typeface="Courier New"/>
              </a:defRPr>
            </a:pPr>
            <a:r>
              <a:t>discrim(), samediff(), dod()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61288" y="33119568"/>
            <a:ext cx="4930902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60" b="0" i="0">
                <a:solidFill>
                  <a:srgbClr val="4D5A52"/>
                </a:solidFill>
                <a:latin typeface="Arial"/>
              </a:defRPr>
            </a:pPr>
            <a:r>
              <a:t>typed estimates + confidence intervals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841998" y="31208471"/>
            <a:ext cx="5698998" cy="278892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979158" y="31501079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1" i="0">
                <a:solidFill>
                  <a:srgbClr val="C7563F"/>
                </a:solidFill>
                <a:latin typeface="Arial"/>
              </a:defRPr>
            </a:pPr>
            <a:r>
              <a:t>2. Plan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226046" y="32004000"/>
            <a:ext cx="4930902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30" b="0" i="0">
                <a:solidFill>
                  <a:srgbClr val="17291F"/>
                </a:solidFill>
                <a:latin typeface="Arial"/>
              </a:defRPr>
            </a:pPr>
            <a:r>
              <a:t>power and sample size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26046" y="32634935"/>
            <a:ext cx="4930902" cy="34747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70" b="0" i="0">
                <a:solidFill>
                  <a:srgbClr val="10231A"/>
                </a:solidFill>
                <a:latin typeface="Courier New"/>
              </a:defRPr>
            </a:pPr>
            <a:r>
              <a:t>discrim_power(), dprime_sample_size()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6046" y="33119568"/>
            <a:ext cx="4930902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60" b="0" i="0">
                <a:solidFill>
                  <a:srgbClr val="4D5A52"/>
                </a:solidFill>
                <a:latin typeface="Arial"/>
              </a:defRPr>
            </a:pPr>
            <a:r>
              <a:t>design studies before collecting data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2906756" y="31208471"/>
            <a:ext cx="5698998" cy="278892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3043916" y="31501079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1" i="0">
                <a:solidFill>
                  <a:srgbClr val="C7563F"/>
                </a:solidFill>
                <a:latin typeface="Arial"/>
              </a:defRPr>
            </a:pPr>
            <a:r>
              <a:t>3. Model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290804" y="32004000"/>
            <a:ext cx="4930902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30" b="0" i="0">
                <a:solidFill>
                  <a:srgbClr val="17291F"/>
                </a:solidFill>
                <a:latin typeface="Arial"/>
              </a:defRPr>
            </a:pPr>
            <a:r>
              <a:t>overdispersion and criteria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290804" y="32634935"/>
            <a:ext cx="4930902" cy="34747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70" b="0" i="0">
                <a:solidFill>
                  <a:srgbClr val="10231A"/>
                </a:solidFill>
                <a:latin typeface="Courier New"/>
              </a:defRPr>
            </a:pPr>
            <a:r>
              <a:t>betabin(), samediff(), twoac()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290804" y="33119568"/>
            <a:ext cx="4930902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60" b="0" i="0">
                <a:solidFill>
                  <a:srgbClr val="4D5A52"/>
                </a:solidFill>
                <a:latin typeface="Arial"/>
              </a:defRPr>
            </a:pPr>
            <a:r>
              <a:t>panel variability + criterion effects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8971514" y="31208471"/>
            <a:ext cx="5698998" cy="278892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9108674" y="31501079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700" b="1" i="0">
                <a:solidFill>
                  <a:srgbClr val="C7563F"/>
                </a:solidFill>
                <a:latin typeface="Arial"/>
              </a:defRPr>
            </a:pPr>
            <a:r>
              <a:t>4. Visualize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9355562" y="32004000"/>
            <a:ext cx="4930902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30" b="0" i="0">
                <a:solidFill>
                  <a:srgbClr val="17291F"/>
                </a:solidFill>
                <a:latin typeface="Arial"/>
              </a:defRPr>
            </a:pPr>
            <a:r>
              <a:t>Plotly psychometric + ROC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9355562" y="32634935"/>
            <a:ext cx="4930902" cy="34747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70" b="0" i="0">
                <a:solidFill>
                  <a:srgbClr val="10231A"/>
                </a:solidFill>
                <a:latin typeface="Courier New"/>
              </a:defRPr>
            </a:pPr>
            <a:r>
              <a:t>plot_psychometric(), plot_roc()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355562" y="33119568"/>
            <a:ext cx="4930902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60" b="0" i="0">
                <a:solidFill>
                  <a:srgbClr val="4D5A52"/>
                </a:solidFill>
                <a:latin typeface="Arial"/>
              </a:defRPr>
            </a:pPr>
            <a:r>
              <a:t>interactive curves for review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0" y="34674047"/>
            <a:ext cx="25447752" cy="1325880"/>
          </a:xfrm>
          <a:prstGeom prst="rect">
            <a:avLst/>
          </a:prstGeom>
          <a:solidFill>
            <a:srgbClr val="10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77240" y="35058096"/>
            <a:ext cx="1828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2000" b="0" i="0">
                <a:solidFill>
                  <a:srgbClr val="FFFFFF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06640" y="35076383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00" b="0" i="0">
                <a:solidFill>
                  <a:srgbClr val="FFFFFF"/>
                </a:solidFill>
                <a:latin typeface="Arial"/>
              </a:defRPr>
            </a:pPr>
            <a:r>
              <a:t>github.com/aigorahub/sensPy | package v0.2.0</a:t>
            </a:r>
          </a:p>
        </p:txBody>
      </p:sp>
      <p:pic>
        <p:nvPicPr>
          <p:cNvPr id="120" name="Picture 119" descr="qr-senspy-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29263" y="34893504"/>
            <a:ext cx="841248" cy="841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