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5447752" cy="35999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447752" cy="35999928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447752" cy="406908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005072"/>
            <a:ext cx="2544775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7373600" cy="91440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400"/>
              </a:spcAft>
              <a:defRPr sz="5800" b="0" i="0">
                <a:solidFill>
                  <a:srgbClr val="10231A"/>
                </a:solidFill>
                <a:latin typeface="Georgia"/>
              </a:defRPr>
            </a:pPr>
            <a:r>
              <a:t>Introducing sensPy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7556480" cy="11521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400"/>
              </a:spcAft>
              <a:defRPr sz="3000" b="0" i="0">
                <a:solidFill>
                  <a:srgbClr val="C7563F"/>
                </a:solidFill>
                <a:latin typeface="Georgia"/>
              </a:defRPr>
            </a:pPr>
            <a:r>
              <a:t>Enabling the gold standard analyses of sensR</a:t>
            </a:r>
          </a:p>
          <a:p>
            <a:pPr algn="l">
              <a:spcAft>
                <a:spcPts val="400"/>
              </a:spcAft>
              <a:defRPr sz="3000" b="0" i="0">
                <a:solidFill>
                  <a:srgbClr val="C7563F"/>
                </a:solidFill>
                <a:latin typeface="Georgia"/>
              </a:defRPr>
            </a:pPr>
            <a:r>
              <a:t>for sensometricians using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70048"/>
            <a:ext cx="1691640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400"/>
              </a:spcAft>
              <a:defRPr sz="1600" b="0" i="0">
                <a:solidFill>
                  <a:srgbClr val="526057"/>
                </a:solidFill>
                <a:latin typeface="Arial"/>
              </a:defRPr>
            </a:pPr>
            <a:r>
              <a:t>SciPy-native signal detection tools with sensR parity, typed results, and interactive visualizations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999232"/>
            <a:ext cx="1691640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400"/>
              </a:spcAft>
              <a:defRPr sz="1700" b="1" i="0">
                <a:solidFill>
                  <a:srgbClr val="17291F"/>
                </a:solidFill>
                <a:latin typeface="Arial"/>
              </a:defRPr>
            </a:pPr>
            <a:r>
              <a:t>John M. Ennis¹  |  Bartosz Smulski²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346704"/>
            <a:ext cx="16916400" cy="2743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400"/>
              </a:spcAft>
              <a:defRPr sz="1250" b="0" i="0">
                <a:solidFill>
                  <a:srgbClr val="405249"/>
                </a:solidFill>
                <a:latin typeface="Arial"/>
              </a:defRPr>
            </a:pPr>
            <a:r>
              <a:t>¹ Aigora, Richmond, United States   |   ² Aigora, Warsaw, Poland</a:t>
            </a:r>
          </a:p>
        </p:txBody>
      </p:sp>
      <p:pic>
        <p:nvPicPr>
          <p:cNvPr id="10" name="Picture 9" descr="sensometrics-2026-valencia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8278" y="411480"/>
            <a:ext cx="5428842" cy="1783080"/>
          </a:xfrm>
          <a:prstGeom prst="rect">
            <a:avLst/>
          </a:prstGeom>
        </p:spPr>
      </p:pic>
      <p:pic>
        <p:nvPicPr>
          <p:cNvPr id="11" name="Picture 10" descr="aigora-logo-deep-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5008" y="2468880"/>
            <a:ext cx="1115568" cy="1115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820888" y="2359152"/>
            <a:ext cx="3310128" cy="122529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400"/>
              </a:spcAft>
              <a:defRPr sz="5000" b="0" i="0">
                <a:solidFill>
                  <a:srgbClr val="10231A"/>
                </a:solidFill>
                <a:latin typeface="Georgia"/>
              </a:defRPr>
            </a:pPr>
            <a:r>
              <a:t>aigora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85232"/>
            <a:ext cx="11420855" cy="1417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sensR-style sensory discrimination into Python without leaving SciPy, dataclasses, or Plotly.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7864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Gold standard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7918704"/>
            <a:ext cx="4878324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Preserve the sensR numerical contract.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8650224"/>
            <a:ext cx="4805172" cy="4846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Golden fixtures keep the Python port tied to the R reference.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16268" y="7114032"/>
            <a:ext cx="557326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54012" y="7333488"/>
            <a:ext cx="5097779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Python-native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3740" y="7918704"/>
            <a:ext cx="4878324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150" b="0" i="0">
                <a:solidFill>
                  <a:srgbClr val="17291F"/>
                </a:solidFill>
                <a:latin typeface="Arial"/>
              </a:defRPr>
            </a:pPr>
            <a:r>
              <a:t>Typed objects, plots, and planning tools.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0316" y="8650224"/>
            <a:ext cx="4805172" cy="4846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Designed for notebooks, pipelines, and interactive review.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9811512"/>
            <a:ext cx="11055096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C7563F"/>
                </a:solidFill>
                <a:latin typeface="Arial"/>
              </a:defRPr>
            </a:pPr>
            <a:r>
              <a:t>The result: validated migration for sensory teams already working in Python.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975336" y="425196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75336" y="439826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Evidence at a glance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021056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094208" y="5394960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30784" y="6126480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protocol variants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22224" y="6638544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8 single + 5 double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40512" y="7022592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forced-choice coverage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982944" y="5285232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056095" y="5394960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740+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92672" y="6126480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automated tests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184111" y="6638544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851 collected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399" y="7022592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parity + boundary cases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021056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094208" y="7891271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1.5.3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130784" y="8622792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sensR fixture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222224" y="9134856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CRAN reference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40512" y="9518904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golden parity data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982944" y="7781544"/>
            <a:ext cx="5641848" cy="21488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9056095" y="7891271"/>
            <a:ext cx="5495544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Plotly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092672" y="8622792"/>
            <a:ext cx="5422392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interactive figures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184111" y="9134856"/>
            <a:ext cx="5239512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psychometric + ROC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02399" y="9518904"/>
            <a:ext cx="5202936" cy="3566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audit-ready outputs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49656" y="10222992"/>
            <a:ext cx="1114653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Numerical parity target: 3-6 decimal places.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Protocol coverage</a:t>
            </a:r>
          </a:p>
        </p:txBody>
      </p:sp>
      <p:pic>
        <p:nvPicPr>
          <p:cNvPr id="50" name="Picture 49" descr="protocol_cover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2405" y="12051792"/>
            <a:ext cx="8424845" cy="54406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05840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Common d-prime scale, protocol-specific guessing.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975336" y="110185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975336" y="111648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Psychometric functions</a:t>
            </a:r>
          </a:p>
        </p:txBody>
      </p:sp>
      <p:pic>
        <p:nvPicPr>
          <p:cNvPr id="54" name="Picture 53" descr="psychometric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97059" y="12051792"/>
            <a:ext cx="8651729" cy="544068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3203936" y="17629632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One API maps Pc, Pd, and d-prime.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7240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Validation surface</a:t>
            </a:r>
          </a:p>
        </p:txBody>
      </p:sp>
      <p:pic>
        <p:nvPicPr>
          <p:cNvPr id="58" name="Picture 57" descr="test_invento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9347" y="20281392"/>
            <a:ext cx="10530962" cy="539496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05840" y="25831800"/>
            <a:ext cx="11237976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4D5A52"/>
                </a:solidFill>
                <a:latin typeface="Arial"/>
              </a:defRPr>
            </a:pPr>
            <a:r>
              <a:t>Golden sensR fixtures run beside unit, model, power, and plotting tests.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975336" y="19248120"/>
            <a:ext cx="11695176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975336" y="19394424"/>
            <a:ext cx="11695176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Advanced models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021056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094208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BB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30784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Beta-Binomial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222224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overdispersed panel data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240512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panel variability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6972787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045939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C7563F"/>
                </a:solidFill>
                <a:latin typeface="Arial"/>
              </a:defRPr>
            </a:pPr>
            <a:r>
              <a:t>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082516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Same-Different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173955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Thurstonian criterion model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192243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criterion effects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0924520" y="20372832"/>
            <a:ext cx="3700271" cy="237744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997671" y="20482560"/>
            <a:ext cx="3553967" cy="65836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5000" b="1" i="0">
                <a:solidFill>
                  <a:srgbClr val="4C8A61"/>
                </a:solidFill>
                <a:latin typeface="Arial"/>
              </a:defRPr>
            </a:pPr>
            <a:r>
              <a:t>ROC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034248" y="21214080"/>
            <a:ext cx="3480815" cy="56692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100" b="1" i="0">
                <a:solidFill>
                  <a:srgbClr val="17291F"/>
                </a:solidFill>
                <a:latin typeface="Arial"/>
              </a:defRPr>
            </a:pPr>
            <a:r>
              <a:t>SDT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125688" y="21726144"/>
            <a:ext cx="3297935" cy="38404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AUC + rating data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143976" y="22110192"/>
            <a:ext cx="3261359" cy="58521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550" b="0" i="0">
                <a:solidFill>
                  <a:srgbClr val="4D5A52"/>
                </a:solidFill>
                <a:latin typeface="Arial"/>
              </a:defRPr>
            </a:pPr>
            <a:r>
              <a:t>decision curves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3021056" y="23143464"/>
            <a:ext cx="11603736" cy="2395728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295376" y="23417784"/>
            <a:ext cx="11055096" cy="53035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Validation is built into the architecture.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341096" y="24213312"/>
            <a:ext cx="10963655" cy="8686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400" b="1" i="0">
                <a:solidFill>
                  <a:srgbClr val="17291F"/>
                </a:solidFill>
                <a:latin typeface="Arial"/>
              </a:defRPr>
            </a:pPr>
            <a:r>
              <a:t>sensR fixtures -&gt; SciPy kernels -&gt; dataclass results -&gt; Plotly figures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203936" y="25831800"/>
            <a:ext cx="11237976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200" b="1" i="0">
                <a:solidFill>
                  <a:srgbClr val="17291F"/>
                </a:solidFill>
                <a:latin typeface="Arial"/>
              </a:defRPr>
            </a:pPr>
            <a:r>
              <a:t>Also included: 2-AC, DOD, A-not-A, d-prime tests, posthoc, simulation, power, and sample-size planning.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77240" y="27569160"/>
            <a:ext cx="23893272" cy="64008"/>
          </a:xfrm>
          <a:prstGeom prst="rect">
            <a:avLst/>
          </a:prstGeom>
          <a:solidFill>
            <a:srgbClr val="C75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77240" y="27715464"/>
            <a:ext cx="23893272" cy="69494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800" b="0" i="0">
                <a:solidFill>
                  <a:srgbClr val="10231A"/>
                </a:solidFill>
                <a:latin typeface="Georgia"/>
              </a:defRPr>
            </a:pPr>
            <a:r>
              <a:t>Conclusion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783080" y="28355544"/>
            <a:ext cx="21881592" cy="1371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3100" b="1" i="0">
                <a:solidFill>
                  <a:srgbClr val="17291F"/>
                </a:solidFill>
                <a:latin typeface="Arial"/>
              </a:defRPr>
            </a:pPr>
            <a:r>
              <a:t>sensPy brings the sensR contract into Python: validated sensory discrimination, typed results, and interactive figures in one workflow.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7240" y="29900879"/>
            <a:ext cx="23893272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3000" b="0" i="0">
                <a:solidFill>
                  <a:srgbClr val="10231A"/>
                </a:solidFill>
                <a:latin typeface="Georgia"/>
              </a:defRPr>
            </a:pPr>
            <a:r>
              <a:t>What changes for sensometricians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77240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33271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Validated migration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61288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Keep sensR-backed decisions in Python notebooks and pipelines.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2728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Same statistical contract; modern workflow surface.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863584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119616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C7563F"/>
                </a:solidFill>
                <a:latin typeface="Arial"/>
              </a:defRPr>
            </a:pPr>
            <a:r>
              <a:t>One reporting scale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47632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Pc, Pd, d-prime, intervals, and power share one API.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339072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Protocol differences stay explicit and comparable.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6949928" y="30540960"/>
            <a:ext cx="7720584" cy="2971800"/>
          </a:xfrm>
          <a:prstGeom prst="roundRect">
            <a:avLst/>
          </a:prstGeom>
          <a:solidFill>
            <a:srgbClr val="E8E3D8"/>
          </a:solidFill>
          <a:ln w="12700">
            <a:solidFill>
              <a:srgbClr val="D2C9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205960" y="30796992"/>
            <a:ext cx="7208520" cy="5303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500" b="1" i="0">
                <a:solidFill>
                  <a:srgbClr val="4C8A61"/>
                </a:solidFill>
                <a:latin typeface="Arial"/>
              </a:defRPr>
            </a:pPr>
            <a:r>
              <a:t>Modern outputs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7333976" y="31491935"/>
            <a:ext cx="6952488" cy="8686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2200" b="0" i="0">
                <a:solidFill>
                  <a:srgbClr val="17291F"/>
                </a:solidFill>
                <a:latin typeface="Arial"/>
              </a:defRPr>
            </a:pPr>
            <a:r>
              <a:t>Typed results and Plotly figures are easier to audit and reuse.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7425416" y="32479487"/>
            <a:ext cx="6769608" cy="832104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ctr">
              <a:spcAft>
                <a:spcPts val="400"/>
              </a:spcAft>
              <a:defRPr sz="1800" b="0" i="0">
                <a:solidFill>
                  <a:srgbClr val="4D5A52"/>
                </a:solidFill>
                <a:latin typeface="Arial"/>
              </a:defRPr>
            </a:pPr>
            <a:r>
              <a:t>Results travel as objects, not loose console output.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40280" y="33713928"/>
            <a:ext cx="20967192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1600" b="0" i="0">
                <a:solidFill>
                  <a:srgbClr val="4D5A52"/>
                </a:solidFill>
                <a:latin typeface="Arial"/>
              </a:defRPr>
            </a:pPr>
            <a:r>
              <a:t>References: sensR package, CRAN v1.5-3, doi:10.32614/CRAN.package.sensR; Brockhoff &amp; Christensen (2010), doi:10.1016/j.foodqual.2009.04.003; Macmillan &amp; Creelman; SciPy; Plotly.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34674047"/>
            <a:ext cx="25447752" cy="1325880"/>
          </a:xfrm>
          <a:prstGeom prst="rect">
            <a:avLst/>
          </a:prstGeom>
          <a:solidFill>
            <a:srgbClr val="102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77240" y="350215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  <a:defRPr sz="2400" b="0" i="0">
                <a:solidFill>
                  <a:srgbClr val="FFFFFF"/>
                </a:solidFill>
                <a:latin typeface="Georgia"/>
              </a:defRPr>
            </a:pPr>
            <a:r>
              <a:t>sensPy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06640" y="35058096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400"/>
              </a:spcAft>
              <a:defRPr sz="2000" b="0" i="0">
                <a:solidFill>
                  <a:srgbClr val="FFFFFF"/>
                </a:solidFill>
                <a:latin typeface="Arial"/>
              </a:defRPr>
            </a:pPr>
            <a:r>
              <a:t>github.com/aigorahub/sensPy | package v0.2.0</a:t>
            </a:r>
          </a:p>
        </p:txBody>
      </p:sp>
      <p:pic>
        <p:nvPicPr>
          <p:cNvPr id="101" name="Picture 100" descr="qr-senspy-gith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10391" y="3485692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